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147482852" r:id="rId5"/>
    <p:sldId id="2147483038" r:id="rId6"/>
    <p:sldId id="2147483032" r:id="rId7"/>
    <p:sldId id="2147483033" r:id="rId8"/>
    <p:sldId id="2147482830" r:id="rId9"/>
    <p:sldId id="2147482822" r:id="rId10"/>
    <p:sldId id="2147483034" r:id="rId11"/>
    <p:sldId id="2147482794" r:id="rId12"/>
    <p:sldId id="2147482831" r:id="rId13"/>
    <p:sldId id="2147482795" r:id="rId14"/>
    <p:sldId id="2147482829" r:id="rId15"/>
    <p:sldId id="2147483035" r:id="rId16"/>
    <p:sldId id="2147483036" r:id="rId17"/>
    <p:sldId id="2147483037" r:id="rId18"/>
    <p:sldId id="2147482832" r:id="rId19"/>
    <p:sldId id="2147483026" r:id="rId20"/>
    <p:sldId id="2147482843" r:id="rId21"/>
    <p:sldId id="2147482846" r:id="rId22"/>
    <p:sldId id="2147482845" r:id="rId23"/>
    <p:sldId id="2147482804" r:id="rId24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15601D"/>
    <a:srgbClr val="6DFD8C"/>
    <a:srgbClr val="CCFFD6"/>
    <a:srgbClr val="00356E"/>
    <a:srgbClr val="B1BFCE"/>
    <a:srgbClr val="FFFFFF"/>
    <a:srgbClr val="B3BFCD"/>
    <a:srgbClr val="B3BECC"/>
    <a:srgbClr val="21ED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BE2DC5-43A8-3F3B-D5A5-5D4A8E897416}" v="10" dt="2026-03-09T16:47:58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58"/>
  </p:normalViewPr>
  <p:slideViewPr>
    <p:cSldViewPr snapToGrid="0">
      <p:cViewPr varScale="1">
        <p:scale>
          <a:sx n="85" d="100"/>
          <a:sy n="85" d="100"/>
        </p:scale>
        <p:origin x="9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9EAED-883F-F34C-91F5-3F423528D291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2804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06EED-5228-7C49-8EE1-2C112C67F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E85886F-2EB1-AF8F-BCAE-C0F65207C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D56F79D-8AEE-7250-9C13-00297A982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EECA58-1AF5-7004-017F-2CAB8FD79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9EAED-883F-F34C-91F5-3F423528D291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3957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sv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sv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8.png"/><Relationship Id="rId7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microsoft.com/office/2007/relationships/hdphoto" Target="../media/hdphoto1.wdp"/><Relationship Id="rId5" Type="http://schemas.openxmlformats.org/officeDocument/2006/relationships/image" Target="../media/image33.png"/><Relationship Id="rId10" Type="http://schemas.openxmlformats.org/officeDocument/2006/relationships/image" Target="../media/image26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6.png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41.png"/><Relationship Id="rId7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4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5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microsoft.com/office/2007/relationships/hdphoto" Target="../media/hdphoto1.wdp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26" Type="http://schemas.openxmlformats.org/officeDocument/2006/relationships/image" Target="../media/image76.png"/><Relationship Id="rId3" Type="http://schemas.openxmlformats.org/officeDocument/2006/relationships/image" Target="../media/image53.png"/><Relationship Id="rId21" Type="http://schemas.openxmlformats.org/officeDocument/2006/relationships/image" Target="../media/image71.png"/><Relationship Id="rId34" Type="http://schemas.openxmlformats.org/officeDocument/2006/relationships/image" Target="../media/image4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5" Type="http://schemas.openxmlformats.org/officeDocument/2006/relationships/image" Target="../media/image75.png"/><Relationship Id="rId33" Type="http://schemas.openxmlformats.org/officeDocument/2006/relationships/image" Target="../media/image82.svg"/><Relationship Id="rId2" Type="http://schemas.openxmlformats.org/officeDocument/2006/relationships/image" Target="../media/image27.png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29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24" Type="http://schemas.openxmlformats.org/officeDocument/2006/relationships/image" Target="../media/image74.png"/><Relationship Id="rId32" Type="http://schemas.openxmlformats.org/officeDocument/2006/relationships/image" Target="../media/image30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23" Type="http://schemas.openxmlformats.org/officeDocument/2006/relationships/image" Target="../media/image73.png"/><Relationship Id="rId28" Type="http://schemas.openxmlformats.org/officeDocument/2006/relationships/image" Target="../media/image78.png"/><Relationship Id="rId36" Type="http://schemas.microsoft.com/office/2007/relationships/hdphoto" Target="../media/hdphoto1.wdp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31" Type="http://schemas.openxmlformats.org/officeDocument/2006/relationships/image" Target="../media/image81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Relationship Id="rId22" Type="http://schemas.openxmlformats.org/officeDocument/2006/relationships/image" Target="../media/image72.png"/><Relationship Id="rId27" Type="http://schemas.openxmlformats.org/officeDocument/2006/relationships/image" Target="../media/image77.png"/><Relationship Id="rId30" Type="http://schemas.openxmlformats.org/officeDocument/2006/relationships/image" Target="../media/image80.png"/><Relationship Id="rId35" Type="http://schemas.openxmlformats.org/officeDocument/2006/relationships/image" Target="../media/image26.png"/><Relationship Id="rId8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18" Type="http://schemas.openxmlformats.org/officeDocument/2006/relationships/image" Target="../media/image4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98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microsoft.com/office/2007/relationships/hdphoto" Target="../media/hdphoto1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hyperlink" Target="https://forms.office.com/r/8CpjHiEsEU?propuesta=" TargetMode="External"/><Relationship Id="rId4" Type="http://schemas.openxmlformats.org/officeDocument/2006/relationships/hyperlink" Target="https://forms.office.com/r/8CpjHiEsEU?propuesta=1403317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0.png"/><Relationship Id="rId7" Type="http://schemas.openxmlformats.org/officeDocument/2006/relationships/image" Target="../media/image2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Relationship Id="rId9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98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6.svg"/><Relationship Id="rId7" Type="http://schemas.openxmlformats.org/officeDocument/2006/relationships/image" Target="../media/image110.png"/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5221EC0A-954F-EDF1-F4D1-F978E445D56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0000" y="-8869"/>
            <a:ext cx="9184000" cy="5166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95EE1BA-6175-F132-1009-91ACD399F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264120"/>
            <a:ext cx="7886700" cy="549204"/>
          </a:xfrm>
          <a:effectLst>
            <a:outerShdw blurRad="228966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s-ES" sz="1600" b="1">
                <a:solidFill>
                  <a:srgbClr val="6DFD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para poner el título de tu presentación</a:t>
            </a:r>
            <a:endParaRPr lang="es-CO" sz="1400" b="1">
              <a:solidFill>
                <a:srgbClr val="6DFD8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6D3A4FA5-DCF1-29F4-92B9-4D0E6CC6DBF3}"/>
              </a:ext>
            </a:extLst>
          </p:cNvPr>
          <p:cNvCxnSpPr>
            <a:cxnSpLocks/>
          </p:cNvCxnSpPr>
          <p:nvPr/>
        </p:nvCxnSpPr>
        <p:spPr>
          <a:xfrm>
            <a:off x="2333002" y="3302257"/>
            <a:ext cx="4503634" cy="0"/>
          </a:xfrm>
          <a:prstGeom prst="line">
            <a:avLst/>
          </a:prstGeom>
          <a:ln>
            <a:solidFill>
              <a:srgbClr val="6DFD8C"/>
            </a:solidFill>
          </a:ln>
          <a:effectLst>
            <a:outerShdw blurRad="50800" dist="38100" dir="5400000" algn="t" rotWithShape="0">
              <a:prstClr val="black">
                <a:alpha val="30075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E0BD3CC-1E36-CB1B-CE04-7AA43B182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787336"/>
            <a:ext cx="7886700" cy="409882"/>
          </a:xfrm>
          <a:effectLst>
            <a:outerShdw blurRad="228966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 algn="ctr">
              <a:buNone/>
            </a:pPr>
            <a:r>
              <a:rPr lang="es-MX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dd</a:t>
            </a:r>
            <a:r>
              <a:rPr lang="es-MX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mm de </a:t>
            </a:r>
            <a:r>
              <a:rPr lang="es-MX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aaaa</a:t>
            </a:r>
            <a:r>
              <a:rPr lang="es-MX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ciudad, País.</a:t>
            </a:r>
          </a:p>
          <a:p>
            <a:pPr marL="0" indent="0" algn="ctr">
              <a:buNone/>
            </a:pPr>
            <a:r>
              <a:rPr lang="es-MX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Ref.: </a:t>
            </a:r>
            <a:r>
              <a:rPr lang="es-MX" sz="16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xxxxx</a:t>
            </a:r>
            <a:r>
              <a:rPr lang="es-MX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Vx.0.0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DC79C6-EACA-7C9A-4E2F-8B6F1DE0EC7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1396" y="114819"/>
            <a:ext cx="1358900" cy="336149"/>
          </a:xfrm>
          <a:prstGeom prst="rect">
            <a:avLst/>
          </a:prstGeom>
        </p:spPr>
      </p:pic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EA6CA862-B264-70C8-D956-E81BA337B452}"/>
              </a:ext>
            </a:extLst>
          </p:cNvPr>
          <p:cNvSpPr/>
          <p:nvPr/>
        </p:nvSpPr>
        <p:spPr>
          <a:xfrm>
            <a:off x="3413746" y="2455513"/>
            <a:ext cx="2316508" cy="647710"/>
          </a:xfrm>
          <a:prstGeom prst="roundRect">
            <a:avLst/>
          </a:prstGeom>
          <a:solidFill>
            <a:schemeClr val="bg1">
              <a:alpha val="6163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957CADE5-02BC-E1B1-141D-D58BDA10BF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3872" y="1013851"/>
            <a:ext cx="3296256" cy="120389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B8FADBC-827D-0F55-D976-C791F84A85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9575" y="2548905"/>
            <a:ext cx="1092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38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2B3FC92-AC3A-1FDB-4577-73022DE60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>
            <a:fillRect/>
          </a:stretch>
        </p:blipFill>
        <p:spPr>
          <a:xfrm>
            <a:off x="-2470" y="5"/>
            <a:ext cx="9148941" cy="514825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A1786FC9-E7DD-A3C0-38A5-CB4583ACE14C}"/>
              </a:ext>
            </a:extLst>
          </p:cNvPr>
          <p:cNvSpPr txBox="1">
            <a:spLocks/>
          </p:cNvSpPr>
          <p:nvPr/>
        </p:nvSpPr>
        <p:spPr>
          <a:xfrm>
            <a:off x="182887" y="598116"/>
            <a:ext cx="3835337" cy="425597"/>
          </a:xfrm>
          <a:prstGeom prst="rect">
            <a:avLst/>
          </a:prstGeom>
        </p:spPr>
        <p:txBody>
          <a:bodyPr vert="horz" lIns="68516" tIns="34259" rIns="68516" bIns="34259" rtlCol="0">
            <a:no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9"/>
              </a:lnSpc>
            </a:pPr>
            <a:r>
              <a:rPr lang="es-CO" sz="1199">
                <a:solidFill>
                  <a:srgbClr val="333333"/>
                </a:solidFill>
              </a:rPr>
              <a:t>Alcanzamos resultados gracias a nuestra experiencia, capacidad analítica y enfoque en el equipo humano.</a:t>
            </a: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2146C6C9-D45D-82D2-47DD-B60E104DF70D}"/>
              </a:ext>
            </a:extLst>
          </p:cNvPr>
          <p:cNvGrpSpPr/>
          <p:nvPr/>
        </p:nvGrpSpPr>
        <p:grpSpPr>
          <a:xfrm>
            <a:off x="84178" y="1173562"/>
            <a:ext cx="4536875" cy="617003"/>
            <a:chOff x="84178" y="1255156"/>
            <a:chExt cx="4536875" cy="617003"/>
          </a:xfrm>
        </p:grpSpPr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20576C5B-34FD-31A8-24AD-E32876E7C886}"/>
                </a:ext>
              </a:extLst>
            </p:cNvPr>
            <p:cNvCxnSpPr>
              <a:cxnSpLocks/>
            </p:cNvCxnSpPr>
            <p:nvPr/>
          </p:nvCxnSpPr>
          <p:spPr>
            <a:xfrm>
              <a:off x="1745685" y="1255156"/>
              <a:ext cx="5536" cy="567752"/>
            </a:xfrm>
            <a:prstGeom prst="line">
              <a:avLst/>
            </a:prstGeom>
            <a:ln w="9525">
              <a:solidFill>
                <a:srgbClr val="212121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8F056D6D-94B0-989F-2146-19EE665974D9}"/>
                </a:ext>
              </a:extLst>
            </p:cNvPr>
            <p:cNvGrpSpPr/>
            <p:nvPr/>
          </p:nvGrpSpPr>
          <p:grpSpPr>
            <a:xfrm>
              <a:off x="84178" y="1279734"/>
              <a:ext cx="1618201" cy="592425"/>
              <a:chOff x="84178" y="1279734"/>
              <a:chExt cx="1618201" cy="592425"/>
            </a:xfrm>
          </p:grpSpPr>
          <p:sp>
            <p:nvSpPr>
              <p:cNvPr id="8" name="Subtítulo 2">
                <a:extLst>
                  <a:ext uri="{FF2B5EF4-FFF2-40B4-BE49-F238E27FC236}">
                    <a16:creationId xmlns:a16="http://schemas.microsoft.com/office/drawing/2014/main" id="{6563484A-96C8-073F-BE54-1C4448F94B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2138" y="1446561"/>
                <a:ext cx="1292762" cy="425598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rm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de Periferia IT </a:t>
                </a:r>
                <a:r>
                  <a:rPr lang="es-CO" sz="899" err="1">
                    <a:solidFill>
                      <a:srgbClr val="333333"/>
                    </a:solidFill>
                  </a:rPr>
                  <a:t>Group</a:t>
                </a:r>
                <a:r>
                  <a:rPr lang="es-CO" sz="899">
                    <a:solidFill>
                      <a:srgbClr val="333333"/>
                    </a:solidFill>
                  </a:rPr>
                  <a:t> en todo el mundo.</a:t>
                </a:r>
              </a:p>
            </p:txBody>
          </p:sp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1680AFA-D7AB-8BC7-92FE-8C3065D037B7}"/>
                  </a:ext>
                </a:extLst>
              </p:cNvPr>
              <p:cNvSpPr txBox="1"/>
              <p:nvPr/>
            </p:nvSpPr>
            <p:spPr>
              <a:xfrm>
                <a:off x="84178" y="1279734"/>
                <a:ext cx="1618201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 dirty="0">
                    <a:solidFill>
                      <a:srgbClr val="15601D"/>
                    </a:solidFill>
                  </a:rPr>
                  <a:t>+ de 2000 colaboradores </a:t>
                </a:r>
              </a:p>
            </p:txBody>
          </p:sp>
        </p:grp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2DC36EA6-D21F-B38C-C514-7926874E000B}"/>
                </a:ext>
              </a:extLst>
            </p:cNvPr>
            <p:cNvGrpSpPr/>
            <p:nvPr/>
          </p:nvGrpSpPr>
          <p:grpSpPr>
            <a:xfrm>
              <a:off x="1820265" y="1289196"/>
              <a:ext cx="1129815" cy="553459"/>
              <a:chOff x="1820265" y="1289196"/>
              <a:chExt cx="1129815" cy="553459"/>
            </a:xfrm>
          </p:grpSpPr>
          <p:sp>
            <p:nvSpPr>
              <p:cNvPr id="10" name="Subtítulo 2">
                <a:extLst>
                  <a:ext uri="{FF2B5EF4-FFF2-40B4-BE49-F238E27FC236}">
                    <a16:creationId xmlns:a16="http://schemas.microsoft.com/office/drawing/2014/main" id="{06F13B96-B259-F046-3A5B-DC3C851C92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38706" y="1446562"/>
                <a:ext cx="1088492" cy="396093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como proveedores de servicios.</a:t>
                </a: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DEAD53E-7125-496A-8F8D-7FA366A1BB03}"/>
                  </a:ext>
                </a:extLst>
              </p:cNvPr>
              <p:cNvSpPr txBox="1"/>
              <p:nvPr/>
            </p:nvSpPr>
            <p:spPr>
              <a:xfrm>
                <a:off x="1820265" y="1289196"/>
                <a:ext cx="1129815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>
                    <a:solidFill>
                      <a:srgbClr val="15601D"/>
                    </a:solidFill>
                  </a:rPr>
                  <a:t>Calificación AA+</a:t>
                </a:r>
              </a:p>
            </p:txBody>
          </p:sp>
        </p:grpSp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739B6164-7945-4E7F-E5C9-A545B0F58165}"/>
                </a:ext>
              </a:extLst>
            </p:cNvPr>
            <p:cNvGrpSpPr/>
            <p:nvPr/>
          </p:nvGrpSpPr>
          <p:grpSpPr>
            <a:xfrm>
              <a:off x="3078157" y="1289196"/>
              <a:ext cx="1542896" cy="547278"/>
              <a:chOff x="3078157" y="1289196"/>
              <a:chExt cx="1542896" cy="547278"/>
            </a:xfrm>
          </p:grpSpPr>
          <p:sp>
            <p:nvSpPr>
              <p:cNvPr id="12" name="Subtítulo 2">
                <a:extLst>
                  <a:ext uri="{FF2B5EF4-FFF2-40B4-BE49-F238E27FC236}">
                    <a16:creationId xmlns:a16="http://schemas.microsoft.com/office/drawing/2014/main" id="{3069327B-3D18-C597-63E6-8DB3AE87F2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15774" y="1446562"/>
                <a:ext cx="1382246" cy="389912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Incrementan el consumo de nuestros servicios.</a:t>
                </a:r>
              </a:p>
            </p:txBody>
          </p:sp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2DD3B11A-88F7-A077-27EB-911A3F8E156E}"/>
                  </a:ext>
                </a:extLst>
              </p:cNvPr>
              <p:cNvSpPr txBox="1"/>
              <p:nvPr/>
            </p:nvSpPr>
            <p:spPr>
              <a:xfrm>
                <a:off x="3078157" y="1289196"/>
                <a:ext cx="1542896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>
                    <a:solidFill>
                      <a:srgbClr val="15601D"/>
                    </a:solidFill>
                  </a:rPr>
                  <a:t>+ del 89% de clientes</a:t>
                </a:r>
              </a:p>
            </p:txBody>
          </p:sp>
        </p:grp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8023CFBF-4B2B-2A23-CC54-34116C6FE983}"/>
                </a:ext>
              </a:extLst>
            </p:cNvPr>
            <p:cNvCxnSpPr>
              <a:cxnSpLocks/>
            </p:cNvCxnSpPr>
            <p:nvPr/>
          </p:nvCxnSpPr>
          <p:spPr>
            <a:xfrm>
              <a:off x="3012319" y="1255156"/>
              <a:ext cx="5536" cy="567752"/>
            </a:xfrm>
            <a:prstGeom prst="line">
              <a:avLst/>
            </a:prstGeom>
            <a:ln w="9525">
              <a:solidFill>
                <a:srgbClr val="212121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EF77B67F-C25F-CC31-66CD-B4F9FCE6929A}"/>
              </a:ext>
            </a:extLst>
          </p:cNvPr>
          <p:cNvGrpSpPr/>
          <p:nvPr/>
        </p:nvGrpSpPr>
        <p:grpSpPr>
          <a:xfrm>
            <a:off x="147101" y="1923963"/>
            <a:ext cx="5050405" cy="724416"/>
            <a:chOff x="310711" y="1717309"/>
            <a:chExt cx="5050405" cy="724416"/>
          </a:xfrm>
        </p:grpSpPr>
        <p:sp>
          <p:nvSpPr>
            <p:cNvPr id="15" name="Subtítulo 2">
              <a:extLst>
                <a:ext uri="{FF2B5EF4-FFF2-40B4-BE49-F238E27FC236}">
                  <a16:creationId xmlns:a16="http://schemas.microsoft.com/office/drawing/2014/main" id="{C795CA70-38AA-3170-80A7-983569CC095E}"/>
                </a:ext>
              </a:extLst>
            </p:cNvPr>
            <p:cNvSpPr txBox="1">
              <a:spLocks/>
            </p:cNvSpPr>
            <p:nvPr/>
          </p:nvSpPr>
          <p:spPr>
            <a:xfrm>
              <a:off x="310711" y="1717309"/>
              <a:ext cx="3257254" cy="263334"/>
            </a:xfrm>
            <a:prstGeom prst="rect">
              <a:avLst/>
            </a:prstGeom>
          </p:spPr>
          <p:txBody>
            <a:bodyPr vert="horz" lIns="68516" tIns="34259" rIns="68516" bIns="34259" rtlCol="0">
              <a:norm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199"/>
                </a:lnSpc>
              </a:pPr>
              <a:r>
                <a:rPr lang="es-CO" sz="1199" b="1">
                  <a:solidFill>
                    <a:srgbClr val="15601D"/>
                  </a:solidFill>
                </a:rPr>
                <a:t>Expertos en tecnología de vanguardia</a:t>
              </a:r>
              <a:endParaRPr lang="es-CO" sz="1199">
                <a:solidFill>
                  <a:srgbClr val="15601D"/>
                </a:solidFill>
              </a:endParaRPr>
            </a:p>
          </p:txBody>
        </p:sp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9F0CF8C6-0385-53DA-C446-B21AFD3BC1A4}"/>
                </a:ext>
              </a:extLst>
            </p:cNvPr>
            <p:cNvGrpSpPr/>
            <p:nvPr/>
          </p:nvGrpSpPr>
          <p:grpSpPr>
            <a:xfrm>
              <a:off x="361796" y="1980060"/>
              <a:ext cx="4999320" cy="461665"/>
              <a:chOff x="202138" y="1960396"/>
              <a:chExt cx="4999320" cy="461665"/>
            </a:xfrm>
          </p:grpSpPr>
          <p:grpSp>
            <p:nvGrpSpPr>
              <p:cNvPr id="58" name="Grupo 57">
                <a:extLst>
                  <a:ext uri="{FF2B5EF4-FFF2-40B4-BE49-F238E27FC236}">
                    <a16:creationId xmlns:a16="http://schemas.microsoft.com/office/drawing/2014/main" id="{D5523CC0-1548-B3DE-4C88-B87B923C0301}"/>
                  </a:ext>
                </a:extLst>
              </p:cNvPr>
              <p:cNvGrpSpPr/>
              <p:nvPr/>
            </p:nvGrpSpPr>
            <p:grpSpPr>
              <a:xfrm>
                <a:off x="202138" y="2052729"/>
                <a:ext cx="1113355" cy="276999"/>
                <a:chOff x="202138" y="2052729"/>
                <a:chExt cx="1113355" cy="276999"/>
              </a:xfrm>
            </p:grpSpPr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322F6C58-3B1D-D213-9222-3AB62F8A3B2F}"/>
                    </a:ext>
                  </a:extLst>
                </p:cNvPr>
                <p:cNvSpPr txBox="1"/>
                <p:nvPr/>
              </p:nvSpPr>
              <p:spPr>
                <a:xfrm>
                  <a:off x="496287" y="2052729"/>
                  <a:ext cx="819206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>
                      <a:solidFill>
                        <a:srgbClr val="212121"/>
                      </a:solidFill>
                    </a:rPr>
                    <a:t>IT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Staffing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18" name="Gráfico 17">
                  <a:extLst>
                    <a:ext uri="{FF2B5EF4-FFF2-40B4-BE49-F238E27FC236}">
                      <a16:creationId xmlns:a16="http://schemas.microsoft.com/office/drawing/2014/main" id="{64C4E768-6A19-1327-506F-80BE59B0D4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2138" y="2071000"/>
                  <a:ext cx="327021" cy="240457"/>
                </a:xfrm>
                <a:prstGeom prst="rect">
                  <a:avLst/>
                </a:prstGeom>
              </p:spPr>
            </p:pic>
          </p:grpSp>
          <p:grpSp>
            <p:nvGrpSpPr>
              <p:cNvPr id="59" name="Grupo 58">
                <a:extLst>
                  <a:ext uri="{FF2B5EF4-FFF2-40B4-BE49-F238E27FC236}">
                    <a16:creationId xmlns:a16="http://schemas.microsoft.com/office/drawing/2014/main" id="{F9AB90C2-CA86-CD7F-26E5-5CFF9368DF5B}"/>
                  </a:ext>
                </a:extLst>
              </p:cNvPr>
              <p:cNvGrpSpPr/>
              <p:nvPr/>
            </p:nvGrpSpPr>
            <p:grpSpPr>
              <a:xfrm>
                <a:off x="1393847" y="1960396"/>
                <a:ext cx="1197968" cy="461665"/>
                <a:chOff x="1423343" y="1960396"/>
                <a:chExt cx="1197968" cy="461665"/>
              </a:xfrm>
            </p:grpSpPr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A8AEF274-AF72-586C-393D-4A0BABD5C0AC}"/>
                    </a:ext>
                  </a:extLst>
                </p:cNvPr>
                <p:cNvSpPr txBox="1"/>
                <p:nvPr/>
              </p:nvSpPr>
              <p:spPr>
                <a:xfrm>
                  <a:off x="1880193" y="1960396"/>
                  <a:ext cx="741118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>
                      <a:solidFill>
                        <a:srgbClr val="212121"/>
                      </a:solidFill>
                    </a:rPr>
                    <a:t>Software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factory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20" name="Gráfico 19">
                  <a:extLst>
                    <a:ext uri="{FF2B5EF4-FFF2-40B4-BE49-F238E27FC236}">
                      <a16:creationId xmlns:a16="http://schemas.microsoft.com/office/drawing/2014/main" id="{457B1EDA-9D73-E556-321A-DA9F807855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23343" y="2045588"/>
                  <a:ext cx="463890" cy="291280"/>
                </a:xfrm>
                <a:prstGeom prst="rect">
                  <a:avLst/>
                </a:prstGeom>
              </p:spPr>
            </p:pic>
          </p:grpSp>
          <p:grpSp>
            <p:nvGrpSpPr>
              <p:cNvPr id="60" name="Grupo 59">
                <a:extLst>
                  <a:ext uri="{FF2B5EF4-FFF2-40B4-BE49-F238E27FC236}">
                    <a16:creationId xmlns:a16="http://schemas.microsoft.com/office/drawing/2014/main" id="{34ADF1C2-2901-8E1C-88D2-08E5DDEE87C2}"/>
                  </a:ext>
                </a:extLst>
              </p:cNvPr>
              <p:cNvGrpSpPr/>
              <p:nvPr/>
            </p:nvGrpSpPr>
            <p:grpSpPr>
              <a:xfrm>
                <a:off x="2684750" y="1960396"/>
                <a:ext cx="1206249" cy="461665"/>
                <a:chOff x="2714246" y="1960396"/>
                <a:chExt cx="1206249" cy="461665"/>
              </a:xfrm>
            </p:grpSpPr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6DCF996F-4A8B-C06B-2BEA-42ADD4DA659A}"/>
                    </a:ext>
                  </a:extLst>
                </p:cNvPr>
                <p:cNvSpPr txBox="1"/>
                <p:nvPr/>
              </p:nvSpPr>
              <p:spPr>
                <a:xfrm>
                  <a:off x="2965767" y="1960396"/>
                  <a:ext cx="954728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 err="1">
                      <a:solidFill>
                        <a:srgbClr val="212121"/>
                      </a:solidFill>
                    </a:rPr>
                    <a:t>Quality</a:t>
                  </a:r>
                  <a:r>
                    <a:rPr lang="es-ES" sz="1200">
                      <a:solidFill>
                        <a:srgbClr val="212121"/>
                      </a:solidFill>
                    </a:rPr>
                    <a:t>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engineering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23" name="Gráfico 22">
                  <a:extLst>
                    <a:ext uri="{FF2B5EF4-FFF2-40B4-BE49-F238E27FC236}">
                      <a16:creationId xmlns:a16="http://schemas.microsoft.com/office/drawing/2014/main" id="{5A7344EF-FEBF-D9B5-3040-12EA25D713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14246" y="2034800"/>
                  <a:ext cx="248127" cy="312856"/>
                </a:xfrm>
                <a:prstGeom prst="rect">
                  <a:avLst/>
                </a:prstGeom>
              </p:spPr>
            </p:pic>
          </p:grp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501F26BC-822D-64B0-0EB9-AF6B56E9307F}"/>
                  </a:ext>
                </a:extLst>
              </p:cNvPr>
              <p:cNvGrpSpPr/>
              <p:nvPr/>
            </p:nvGrpSpPr>
            <p:grpSpPr>
              <a:xfrm>
                <a:off x="3926495" y="1960396"/>
                <a:ext cx="1274963" cy="461665"/>
                <a:chOff x="3975655" y="1960396"/>
                <a:chExt cx="1274963" cy="461665"/>
              </a:xfrm>
            </p:grpSpPr>
            <p:pic>
              <p:nvPicPr>
                <p:cNvPr id="26" name="Gráfico 25">
                  <a:extLst>
                    <a:ext uri="{FF2B5EF4-FFF2-40B4-BE49-F238E27FC236}">
                      <a16:creationId xmlns:a16="http://schemas.microsoft.com/office/drawing/2014/main" id="{AE41ADF6-DA02-C5F9-1ED8-11DCD5D91C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75655" y="2034800"/>
                  <a:ext cx="302068" cy="312856"/>
                </a:xfrm>
                <a:prstGeom prst="rect">
                  <a:avLst/>
                </a:prstGeom>
              </p:spPr>
            </p:pic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686D89CF-E697-5318-F1FF-7F6049C81CFE}"/>
                    </a:ext>
                  </a:extLst>
                </p:cNvPr>
                <p:cNvSpPr txBox="1"/>
                <p:nvPr/>
              </p:nvSpPr>
              <p:spPr>
                <a:xfrm>
                  <a:off x="4277723" y="1960396"/>
                  <a:ext cx="972895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 err="1">
                      <a:solidFill>
                        <a:srgbClr val="212121"/>
                      </a:solidFill>
                    </a:rPr>
                    <a:t>Technology</a:t>
                  </a:r>
                  <a:r>
                    <a:rPr lang="es-ES" sz="1200">
                      <a:solidFill>
                        <a:srgbClr val="212121"/>
                      </a:solidFill>
                    </a:rPr>
                    <a:t>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accelerators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</p:grpSp>
        </p:grp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8B7D4922-2582-7F22-8496-EEAD4DFF84BE}"/>
              </a:ext>
            </a:extLst>
          </p:cNvPr>
          <p:cNvGrpSpPr/>
          <p:nvPr/>
        </p:nvGrpSpPr>
        <p:grpSpPr>
          <a:xfrm>
            <a:off x="133453" y="3886440"/>
            <a:ext cx="4775558" cy="1058448"/>
            <a:chOff x="133453" y="3886440"/>
            <a:chExt cx="4775558" cy="1058448"/>
          </a:xfrm>
        </p:grpSpPr>
        <p:sp>
          <p:nvSpPr>
            <p:cNvPr id="30" name="Subtítulo 2">
              <a:extLst>
                <a:ext uri="{FF2B5EF4-FFF2-40B4-BE49-F238E27FC236}">
                  <a16:creationId xmlns:a16="http://schemas.microsoft.com/office/drawing/2014/main" id="{24C0C7BF-C30D-298F-3F0C-E986C727431B}"/>
                </a:ext>
              </a:extLst>
            </p:cNvPr>
            <p:cNvSpPr txBox="1">
              <a:spLocks/>
            </p:cNvSpPr>
            <p:nvPr/>
          </p:nvSpPr>
          <p:spPr>
            <a:xfrm>
              <a:off x="133453" y="3886440"/>
              <a:ext cx="3059505" cy="414731"/>
            </a:xfrm>
            <a:prstGeom prst="rect">
              <a:avLst/>
            </a:prstGeom>
          </p:spPr>
          <p:txBody>
            <a:bodyPr vert="horz" lIns="68516" tIns="34259" rIns="68516" bIns="34259" rtlCol="0">
              <a:no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1199"/>
                </a:lnSpc>
              </a:pPr>
              <a:r>
                <a:rPr lang="es-CO" sz="1199" b="1">
                  <a:solidFill>
                    <a:srgbClr val="15601D"/>
                  </a:solidFill>
                </a:rPr>
                <a:t>Forma parte de este grupo de clientes que evoluciona sus empresas</a:t>
              </a:r>
            </a:p>
          </p:txBody>
        </p: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E0FE7441-031C-3259-72A3-179B33718C39}"/>
                </a:ext>
              </a:extLst>
            </p:cNvPr>
            <p:cNvGrpSpPr/>
            <p:nvPr/>
          </p:nvGrpSpPr>
          <p:grpSpPr>
            <a:xfrm>
              <a:off x="185289" y="4306410"/>
              <a:ext cx="4723722" cy="638478"/>
              <a:chOff x="224972" y="4221577"/>
              <a:chExt cx="4676550" cy="724444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054ECC65-CBA0-5D45-7BEF-9219621923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4972" y="4341726"/>
                <a:ext cx="706116" cy="96289"/>
              </a:xfrm>
              <a:prstGeom prst="rect">
                <a:avLst/>
              </a:prstGeom>
            </p:spPr>
          </p:pic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4ADA94B0-4E60-BC5A-AE51-9362B42525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392208" y="4313670"/>
                <a:ext cx="485775" cy="152400"/>
              </a:xfrm>
              <a:prstGeom prst="rect">
                <a:avLst/>
              </a:prstGeom>
            </p:spPr>
          </p:pic>
          <p:pic>
            <p:nvPicPr>
              <p:cNvPr id="34" name="Imagen 33" descr="Texto&#10;&#10;Descripción generada automáticamente">
                <a:extLst>
                  <a:ext uri="{FF2B5EF4-FFF2-40B4-BE49-F238E27FC236}">
                    <a16:creationId xmlns:a16="http://schemas.microsoft.com/office/drawing/2014/main" id="{B388922D-4876-935C-940E-49FBE8D464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605954" y="4632605"/>
                <a:ext cx="471180" cy="173974"/>
              </a:xfrm>
              <a:prstGeom prst="rect">
                <a:avLst/>
              </a:prstGeom>
            </p:spPr>
          </p:pic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1C5ECEAC-3F41-9D80-2EAB-AFEFD9EED5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800765" y="4303925"/>
                <a:ext cx="485775" cy="171890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CCF1CC28-2252-72BF-86A2-346370327F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70135" y="4327307"/>
                <a:ext cx="693005" cy="125126"/>
              </a:xfrm>
              <a:prstGeom prst="rect">
                <a:avLst/>
              </a:prstGeom>
            </p:spPr>
          </p:pic>
          <p:pic>
            <p:nvPicPr>
              <p:cNvPr id="37" name="Imagen 36">
                <a:extLst>
                  <a:ext uri="{FF2B5EF4-FFF2-40B4-BE49-F238E27FC236}">
                    <a16:creationId xmlns:a16="http://schemas.microsoft.com/office/drawing/2014/main" id="{617F3E92-6323-B46E-97EC-3DA27FCF00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24369" y="4291996"/>
                <a:ext cx="630742" cy="195748"/>
              </a:xfrm>
              <a:prstGeom prst="rect">
                <a:avLst/>
              </a:prstGeom>
            </p:spPr>
          </p:pic>
          <p:pic>
            <p:nvPicPr>
              <p:cNvPr id="38" name="Imagen 37" descr="Logotipo&#10;&#10;Descripción generada automáticamente">
                <a:extLst>
                  <a:ext uri="{FF2B5EF4-FFF2-40B4-BE49-F238E27FC236}">
                    <a16:creationId xmlns:a16="http://schemas.microsoft.com/office/drawing/2014/main" id="{F3E06ACC-1A38-5E05-C4B8-7C8ACAAEA1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539095" y="4310390"/>
                <a:ext cx="604898" cy="158960"/>
              </a:xfrm>
              <a:prstGeom prst="rect">
                <a:avLst/>
              </a:prstGeom>
            </p:spPr>
          </p:pic>
          <p:pic>
            <p:nvPicPr>
              <p:cNvPr id="39" name="Imagen 38" descr="Logotipo&#10;&#10;Descripción generada automáticamente con confianza media">
                <a:extLst>
                  <a:ext uri="{FF2B5EF4-FFF2-40B4-BE49-F238E27FC236}">
                    <a16:creationId xmlns:a16="http://schemas.microsoft.com/office/drawing/2014/main" id="{886030E8-9803-7942-AB14-37925FD3F4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399" y="4609373"/>
                <a:ext cx="625262" cy="220439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E9EE6FBC-EB79-F5FE-C380-FD2E883EAF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263887" y="4582921"/>
                <a:ext cx="305500" cy="273342"/>
              </a:xfrm>
              <a:prstGeom prst="rect">
                <a:avLst/>
              </a:prstGeom>
            </p:spPr>
          </p:pic>
          <p:pic>
            <p:nvPicPr>
              <p:cNvPr id="41" name="Imagen 40">
                <a:extLst>
                  <a:ext uri="{FF2B5EF4-FFF2-40B4-BE49-F238E27FC236}">
                    <a16:creationId xmlns:a16="http://schemas.microsoft.com/office/drawing/2014/main" id="{926C8D51-90C0-1F70-2996-D1A6A76F2E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61505" y="4633243"/>
                <a:ext cx="556470" cy="172698"/>
              </a:xfrm>
              <a:prstGeom prst="rect">
                <a:avLst/>
              </a:prstGeom>
            </p:spPr>
          </p:pic>
          <p:pic>
            <p:nvPicPr>
              <p:cNvPr id="42" name="Imagen 41">
                <a:extLst>
                  <a:ext uri="{FF2B5EF4-FFF2-40B4-BE49-F238E27FC236}">
                    <a16:creationId xmlns:a16="http://schemas.microsoft.com/office/drawing/2014/main" id="{76C1F26E-DC38-5D8D-B52D-29AA87A8A6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890902" y="4619515"/>
                <a:ext cx="305500" cy="200155"/>
              </a:xfrm>
              <a:prstGeom prst="rect">
                <a:avLst/>
              </a:prstGeom>
            </p:spPr>
          </p:pic>
          <p:pic>
            <p:nvPicPr>
              <p:cNvPr id="43" name="Imagen 42">
                <a:extLst>
                  <a:ext uri="{FF2B5EF4-FFF2-40B4-BE49-F238E27FC236}">
                    <a16:creationId xmlns:a16="http://schemas.microsoft.com/office/drawing/2014/main" id="{DB066898-FE04-7C18-681D-9B283331C0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368669" y="4655968"/>
                <a:ext cx="532853" cy="127248"/>
              </a:xfrm>
              <a:prstGeom prst="rect">
                <a:avLst/>
              </a:prstGeom>
            </p:spPr>
          </p:pic>
          <p:cxnSp>
            <p:nvCxnSpPr>
              <p:cNvPr id="44" name="Conector recto 43">
                <a:extLst>
                  <a:ext uri="{FF2B5EF4-FFF2-40B4-BE49-F238E27FC236}">
                    <a16:creationId xmlns:a16="http://schemas.microsoft.com/office/drawing/2014/main" id="{DF404E1B-2BA7-53A7-4B0D-A80D343C18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7942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cto 44">
                <a:extLst>
                  <a:ext uri="{FF2B5EF4-FFF2-40B4-BE49-F238E27FC236}">
                    <a16:creationId xmlns:a16="http://schemas.microsoft.com/office/drawing/2014/main" id="{09983206-0556-C4AC-14D3-16853D2046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557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45">
                <a:extLst>
                  <a:ext uri="{FF2B5EF4-FFF2-40B4-BE49-F238E27FC236}">
                    <a16:creationId xmlns:a16="http://schemas.microsoft.com/office/drawing/2014/main" id="{CA9085DD-1AFE-72E0-93AD-944BF31D33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4197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 recto 46">
                <a:extLst>
                  <a:ext uri="{FF2B5EF4-FFF2-40B4-BE49-F238E27FC236}">
                    <a16:creationId xmlns:a16="http://schemas.microsoft.com/office/drawing/2014/main" id="{D7EB1D0E-3BA0-3909-878E-B1F57325BA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0384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ector recto 47">
                <a:extLst>
                  <a:ext uri="{FF2B5EF4-FFF2-40B4-BE49-F238E27FC236}">
                    <a16:creationId xmlns:a16="http://schemas.microsoft.com/office/drawing/2014/main" id="{5B838F8B-ACAB-678D-B73F-B0E6363319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56072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1D894EB-BF9B-4DFE-27C4-CAE58F19FCB3}"/>
              </a:ext>
            </a:extLst>
          </p:cNvPr>
          <p:cNvSpPr txBox="1"/>
          <p:nvPr/>
        </p:nvSpPr>
        <p:spPr>
          <a:xfrm>
            <a:off x="6503747" y="4063912"/>
            <a:ext cx="2418232" cy="402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1199"/>
              </a:lnSpc>
            </a:pPr>
            <a:r>
              <a:rPr lang="es-CO" sz="1199" b="1">
                <a:solidFill>
                  <a:srgbClr val="15601D"/>
                </a:solidFill>
              </a:rPr>
              <a:t>Desafiamos barreras, </a:t>
            </a:r>
          </a:p>
          <a:p>
            <a:pPr algn="r">
              <a:lnSpc>
                <a:spcPts val="1199"/>
              </a:lnSpc>
            </a:pPr>
            <a:r>
              <a:rPr lang="es-CO" sz="1199" b="1">
                <a:solidFill>
                  <a:srgbClr val="15601D"/>
                </a:solidFill>
              </a:rPr>
              <a:t>brindando respaldo internacional </a:t>
            </a: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BAD37AEA-30C9-8653-4491-30E60AB2E3EA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7273" y="4562897"/>
            <a:ext cx="3034706" cy="381991"/>
          </a:xfrm>
          <a:prstGeom prst="rect">
            <a:avLst/>
          </a:prstGeom>
        </p:spPr>
      </p:pic>
      <p:sp>
        <p:nvSpPr>
          <p:cNvPr id="57" name="Subtítulo 2">
            <a:extLst>
              <a:ext uri="{FF2B5EF4-FFF2-40B4-BE49-F238E27FC236}">
                <a16:creationId xmlns:a16="http://schemas.microsoft.com/office/drawing/2014/main" id="{43B76E3A-ECA9-8AE0-63C6-3803AC4D269B}"/>
              </a:ext>
            </a:extLst>
          </p:cNvPr>
          <p:cNvSpPr txBox="1">
            <a:spLocks/>
          </p:cNvSpPr>
          <p:nvPr/>
        </p:nvSpPr>
        <p:spPr>
          <a:xfrm>
            <a:off x="6454553" y="2573338"/>
            <a:ext cx="2418232" cy="763002"/>
          </a:xfrm>
          <a:prstGeom prst="rect">
            <a:avLst/>
          </a:prstGeom>
        </p:spPr>
        <p:txBody>
          <a:bodyPr vert="horz" lIns="68516" tIns="34259" rIns="68516" bIns="34259" rtlCol="0">
            <a:no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600"/>
              </a:lnSpc>
            </a:pPr>
            <a:r>
              <a:rPr lang="es-CO" sz="1700" b="1">
                <a:solidFill>
                  <a:schemeClr val="bg1"/>
                </a:solidFill>
              </a:rPr>
              <a:t>+ de 20 años brindando soluciones de tecnología a proyectos y negocios.</a:t>
            </a:r>
          </a:p>
        </p:txBody>
      </p:sp>
      <p:pic>
        <p:nvPicPr>
          <p:cNvPr id="28" name="Gráfico 9">
            <a:extLst>
              <a:ext uri="{FF2B5EF4-FFF2-40B4-BE49-F238E27FC236}">
                <a16:creationId xmlns:a16="http://schemas.microsoft.com/office/drawing/2014/main" id="{577E21C4-F74A-4C95-82E2-6896FF355D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67993" y="156020"/>
            <a:ext cx="1026000" cy="251660"/>
          </a:xfrm>
          <a:prstGeom prst="rect">
            <a:avLst/>
          </a:prstGeom>
        </p:spPr>
      </p:pic>
      <p:sp>
        <p:nvSpPr>
          <p:cNvPr id="50" name="Subtítulo 2">
            <a:extLst>
              <a:ext uri="{FF2B5EF4-FFF2-40B4-BE49-F238E27FC236}">
                <a16:creationId xmlns:a16="http://schemas.microsoft.com/office/drawing/2014/main" id="{6322498F-D915-3F99-D6B0-DE4AD46F2C65}"/>
              </a:ext>
            </a:extLst>
          </p:cNvPr>
          <p:cNvSpPr txBox="1">
            <a:spLocks/>
          </p:cNvSpPr>
          <p:nvPr/>
        </p:nvSpPr>
        <p:spPr>
          <a:xfrm>
            <a:off x="174828" y="2816122"/>
            <a:ext cx="3257254" cy="263334"/>
          </a:xfrm>
          <a:prstGeom prst="rect">
            <a:avLst/>
          </a:prstGeom>
        </p:spPr>
        <p:txBody>
          <a:bodyPr vert="horz" lIns="68516" tIns="34259" rIns="68516" bIns="34259" rtlCol="0">
            <a:norm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9"/>
              </a:lnSpc>
            </a:pPr>
            <a:r>
              <a:rPr lang="es-ES" sz="1199" b="1">
                <a:solidFill>
                  <a:srgbClr val="15601D"/>
                </a:solidFill>
              </a:rPr>
              <a:t>C</a:t>
            </a:r>
            <a:r>
              <a:rPr lang="es-CO" sz="1199" b="1" err="1">
                <a:solidFill>
                  <a:srgbClr val="15601D"/>
                </a:solidFill>
              </a:rPr>
              <a:t>ertificaciones</a:t>
            </a:r>
            <a:endParaRPr lang="es-CO" sz="1199" noProof="0">
              <a:solidFill>
                <a:srgbClr val="15601D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0027E10-C51A-3425-5641-234D2A9DD96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1508" y="3074977"/>
            <a:ext cx="3185575" cy="76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21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416AEF1-A44E-8640-8F31-AE08F933AA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999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144E798A-E2D6-13E4-90EB-A3218F2EC31A}"/>
              </a:ext>
            </a:extLst>
          </p:cNvPr>
          <p:cNvSpPr txBox="1">
            <a:spLocks/>
          </p:cNvSpPr>
          <p:nvPr/>
        </p:nvSpPr>
        <p:spPr>
          <a:xfrm>
            <a:off x="356790" y="1307939"/>
            <a:ext cx="3758009" cy="694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s-CO" sz="2000" b="1">
                <a:solidFill>
                  <a:srgbClr val="15601D"/>
                </a:solidFill>
                <a:latin typeface="Arial Black" panose="020B0604020202020204" pitchFamily="34" charset="0"/>
                <a:cs typeface="Calibri" panose="020F0502020204030204" pitchFamily="34" charset="0"/>
              </a:rPr>
              <a:t>Confidencialidad de la Propuesta</a:t>
            </a:r>
            <a:endParaRPr lang="es-CO" sz="2200" b="1">
              <a:solidFill>
                <a:srgbClr val="15601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169E2F9-926E-6AB7-3FA3-6F585771A333}"/>
              </a:ext>
            </a:extLst>
          </p:cNvPr>
          <p:cNvSpPr txBox="1"/>
          <p:nvPr/>
        </p:nvSpPr>
        <p:spPr>
          <a:xfrm>
            <a:off x="356790" y="2155454"/>
            <a:ext cx="3970113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s-MX" sz="1600" dirty="0"/>
              <a:t>El contenido de la presente propuesta es de carácter confidencial entre </a:t>
            </a:r>
            <a:r>
              <a:rPr lang="es-MX" sz="1600" b="1" dirty="0"/>
              <a:t>PERIFERIA IT GROUP </a:t>
            </a:r>
            <a:r>
              <a:rPr lang="es-MX" sz="1600" dirty="0"/>
              <a:t>y </a:t>
            </a:r>
            <a:r>
              <a:rPr lang="es-MX" sz="1600" dirty="0">
                <a:solidFill>
                  <a:schemeClr val="accent1"/>
                </a:solidFill>
              </a:rPr>
              <a:t>               </a:t>
            </a:r>
            <a:r>
              <a:rPr lang="es-MX" sz="1600" dirty="0"/>
              <a:t>; en caso de utilizar o disponer de la solución, es indispensable una autorización previa firma por el representante legal de </a:t>
            </a:r>
            <a:r>
              <a:rPr lang="es-MX" sz="1600" b="1" dirty="0"/>
              <a:t>PERIFERIA IT GROUP</a:t>
            </a:r>
            <a:r>
              <a:rPr lang="es-MX" sz="1600" dirty="0"/>
              <a:t>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537FB96-3916-B9BE-27D8-00AC4BE89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153" y="2689545"/>
            <a:ext cx="530206" cy="234277"/>
          </a:xfrm>
          <a:prstGeom prst="rect">
            <a:avLst/>
          </a:prstGeom>
        </p:spPr>
      </p:pic>
      <p:pic>
        <p:nvPicPr>
          <p:cNvPr id="4" name="Imagen 3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E84B5734-6500-DF19-F6AC-BED26CCC1F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00" y="193470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256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1E77E99-5208-D6E4-C69F-40C5F1BE37B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B868673C-19F4-1216-9FA8-0F63E5450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649" y="613117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Objetivo del Servicio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398096-7B7E-6303-C785-CF7C90685067}"/>
              </a:ext>
            </a:extLst>
          </p:cNvPr>
          <p:cNvSpPr txBox="1"/>
          <p:nvPr/>
        </p:nvSpPr>
        <p:spPr>
          <a:xfrm>
            <a:off x="431649" y="996300"/>
            <a:ext cx="8410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200" dirty="0"/>
              <a:t>Presentar a </a:t>
            </a:r>
            <a:r>
              <a:rPr lang="es-CO" sz="1200" dirty="0">
                <a:solidFill>
                  <a:schemeClr val="accent1"/>
                </a:solidFill>
              </a:rPr>
              <a:t> </a:t>
            </a:r>
            <a:r>
              <a:rPr lang="es-CO" sz="1200" dirty="0"/>
              <a:t>  los servicios de xxxxxxxxxxxxxxxxxxxxxxxxxxxxxxxxxxxxxxxxxxxxxxxxxxxxxxxxxxxxxxxxxxxxxxxxxxxxxxxxxxxxxxxxxxxxxxxxxxxxxxxxxxxxxxxxxxxxxxxxxxxxxxxxxxxxxxxxxxxxxxxxxxxxxxxxxxxxxxxxxxxxxxxxxxxxx. 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EB60FE6F-5678-0B74-1614-DC26AFA14005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AFC1753C-561B-AF63-A7FA-2964B2A0677A}"/>
              </a:ext>
            </a:extLst>
          </p:cNvPr>
          <p:cNvSpPr/>
          <p:nvPr/>
        </p:nvSpPr>
        <p:spPr>
          <a:xfrm>
            <a:off x="431649" y="1693264"/>
            <a:ext cx="8141835" cy="1091661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91440" bIns="0" rtlCol="0" anchor="ctr"/>
          <a:lstStyle/>
          <a:p>
            <a:pPr algn="just"/>
            <a:r>
              <a:rPr lang="es-ES" sz="1200" dirty="0">
                <a:solidFill>
                  <a:schemeClr val="bg1"/>
                </a:solidFill>
                <a:cs typeface="Arial"/>
              </a:rPr>
              <a:t>Xxxxxxxxxxxxxxxxxxxxxxxxxxxxxxxxxxxxxxxxxxxxxxxxxxxxxxxxxxxxxxxxxxxxxxxxxxxxxxxxxxxxxxxxxxxxxxxxxxxxxxxxxxxxxxxxxxxxxxxxxxxxxxxxxxxxxxxxxxxxxxxxxxxxxxxxxxxxxxxxxxxxx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FA14E07-A4E0-B347-0E2E-49421AC8FEB5}"/>
              </a:ext>
            </a:extLst>
          </p:cNvPr>
          <p:cNvSpPr txBox="1">
            <a:spLocks/>
          </p:cNvSpPr>
          <p:nvPr/>
        </p:nvSpPr>
        <p:spPr>
          <a:xfrm>
            <a:off x="564836" y="2229044"/>
            <a:ext cx="597187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AS-IS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1E79CC-8F60-76AF-6830-85B9BFCF0671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rcRect/>
          <a:stretch/>
        </p:blipFill>
        <p:spPr>
          <a:xfrm>
            <a:off x="667153" y="1813738"/>
            <a:ext cx="366178" cy="364785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B1B0C7C-1FE4-2C33-FE39-9E3E47247903}"/>
              </a:ext>
            </a:extLst>
          </p:cNvPr>
          <p:cNvSpPr/>
          <p:nvPr/>
        </p:nvSpPr>
        <p:spPr>
          <a:xfrm>
            <a:off x="431650" y="2834069"/>
            <a:ext cx="8141834" cy="1262970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91440" bIns="0" rtlCol="0" anchor="ctr"/>
          <a:lstStyle/>
          <a:p>
            <a:pPr algn="just"/>
            <a:r>
              <a:rPr lang="es-ES" sz="1200" dirty="0">
                <a:solidFill>
                  <a:schemeClr val="bg1"/>
                </a:solidFill>
                <a:cs typeface="Arial"/>
              </a:rPr>
              <a:t>Xxxxxxxxxxxxxxxxxxxxxxxxxxxxxxxxxxxxxxxxxxxxxxxxxxxxxxxxxxxxxxxxxxxxxxxxxxxxxxxxxxxxxxxxxxxxxxxxxxxxxxxxxxxxxxxxxxxxxxxxxxxxxxxxxxxxxxxxxxxxxxxxxxxxxxxxxxxxxxxxxxxxx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E2A7BBE-6717-2741-7BCA-E132F550A6DB}"/>
              </a:ext>
            </a:extLst>
          </p:cNvPr>
          <p:cNvSpPr txBox="1">
            <a:spLocks/>
          </p:cNvSpPr>
          <p:nvPr/>
        </p:nvSpPr>
        <p:spPr>
          <a:xfrm>
            <a:off x="564836" y="3350638"/>
            <a:ext cx="608165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600" b="1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s-E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-Be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D3E04A2-40E9-99B2-53DE-A3CBF3CE9CEF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rcRect/>
          <a:stretch/>
        </p:blipFill>
        <p:spPr>
          <a:xfrm>
            <a:off x="638747" y="2984460"/>
            <a:ext cx="354022" cy="366178"/>
          </a:xfrm>
          <a:prstGeom prst="rect">
            <a:avLst/>
          </a:prstGeom>
        </p:spPr>
      </p:pic>
      <p:sp>
        <p:nvSpPr>
          <p:cNvPr id="14" name="Redondear rectángulo de esquina diagonal 14">
            <a:extLst>
              <a:ext uri="{FF2B5EF4-FFF2-40B4-BE49-F238E27FC236}">
                <a16:creationId xmlns:a16="http://schemas.microsoft.com/office/drawing/2014/main" id="{F18425BF-0899-A0F2-EC0C-CD7814FE84EB}"/>
              </a:ext>
            </a:extLst>
          </p:cNvPr>
          <p:cNvSpPr/>
          <p:nvPr/>
        </p:nvSpPr>
        <p:spPr>
          <a:xfrm>
            <a:off x="4173270" y="4535953"/>
            <a:ext cx="4899660" cy="568047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04000" tIns="0" rIns="0" bIns="0" rtlCol="0" anchor="ctr"/>
          <a:lstStyle/>
          <a:p>
            <a:r>
              <a:rPr lang="es-ES" sz="1050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propuesta se presenta de acuerdo con xxxxxxxxxxxxxxxxxxxxxxxxxxxxxxxxxxxxxxxxxxxxxxxxxxxxxxxxxxxxxxxxxxxxxxxxxxxxxxxxxxxxxxxxxxxxxxxxxxxxxxxxxxxxxxxxxxxxxxxxxx.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9655519-03E0-240F-4305-8C33670AF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563" y="4658257"/>
            <a:ext cx="323437" cy="32343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ED9A1F2-F104-225E-343A-08B6209D6D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6910" y="996300"/>
            <a:ext cx="530206" cy="234277"/>
          </a:xfrm>
          <a:prstGeom prst="rect">
            <a:avLst/>
          </a:prstGeom>
        </p:spPr>
      </p:pic>
      <p:pic>
        <p:nvPicPr>
          <p:cNvPr id="17" name="Imagen 16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6723EDA8-7D67-5903-06EF-17603CE829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89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AA813-2605-A80A-A94A-E3C96DC6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2B37F35-F63F-8AE3-2FB3-FBBB3364B1C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C0C4613F-2E18-238C-9B63-2D5E4D9C4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293" y="476623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 err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Roadmap</a:t>
            </a: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del Servicio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7AB9324-39EC-66EE-CD8A-EAFD4B7B9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782" y="672810"/>
            <a:ext cx="346983" cy="28183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ECA2C06-4A33-5C34-2E14-96679C947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098" y="1121910"/>
            <a:ext cx="1603457" cy="803316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F281D83-41F3-123F-4448-02C680A7A732}"/>
              </a:ext>
            </a:extLst>
          </p:cNvPr>
          <p:cNvCxnSpPr>
            <a:cxnSpLocks/>
          </p:cNvCxnSpPr>
          <p:nvPr/>
        </p:nvCxnSpPr>
        <p:spPr>
          <a:xfrm>
            <a:off x="1359937" y="1968088"/>
            <a:ext cx="0" cy="2941535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F6F71DF-5EB6-683A-C176-44E9E6CFF486}"/>
              </a:ext>
            </a:extLst>
          </p:cNvPr>
          <p:cNvCxnSpPr>
            <a:cxnSpLocks/>
          </p:cNvCxnSpPr>
          <p:nvPr/>
        </p:nvCxnSpPr>
        <p:spPr>
          <a:xfrm>
            <a:off x="2927895" y="1968087"/>
            <a:ext cx="12660" cy="1385185"/>
          </a:xfrm>
          <a:prstGeom prst="line">
            <a:avLst/>
          </a:prstGeom>
          <a:ln w="38100">
            <a:solidFill>
              <a:srgbClr val="00AB38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F4D375AC-7C2C-548B-23F6-61AE048E0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2921545" y="3396133"/>
            <a:ext cx="1603457" cy="803316"/>
          </a:xfrm>
          <a:prstGeom prst="rect">
            <a:avLst/>
          </a:prstGeom>
        </p:spPr>
      </p:pic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5135B70-81F4-3209-36F6-904A8854A8DB}"/>
              </a:ext>
            </a:extLst>
          </p:cNvPr>
          <p:cNvCxnSpPr>
            <a:cxnSpLocks/>
          </p:cNvCxnSpPr>
          <p:nvPr/>
        </p:nvCxnSpPr>
        <p:spPr>
          <a:xfrm>
            <a:off x="4473664" y="1925226"/>
            <a:ext cx="12660" cy="1385185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AB39F647-74D8-2FE1-D614-CCBC594F8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123" y="1079049"/>
            <a:ext cx="1603457" cy="803316"/>
          </a:xfrm>
          <a:prstGeom prst="rect">
            <a:avLst/>
          </a:prstGeom>
        </p:spPr>
      </p:pic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2793418-4326-95D3-6FD5-250D3DACF286}"/>
              </a:ext>
            </a:extLst>
          </p:cNvPr>
          <p:cNvCxnSpPr>
            <a:cxnSpLocks/>
          </p:cNvCxnSpPr>
          <p:nvPr/>
        </p:nvCxnSpPr>
        <p:spPr>
          <a:xfrm>
            <a:off x="6044920" y="1925226"/>
            <a:ext cx="12660" cy="1385185"/>
          </a:xfrm>
          <a:prstGeom prst="line">
            <a:avLst/>
          </a:prstGeom>
          <a:ln w="38100">
            <a:solidFill>
              <a:srgbClr val="00AB38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n 15">
            <a:extLst>
              <a:ext uri="{FF2B5EF4-FFF2-40B4-BE49-F238E27FC236}">
                <a16:creationId xmlns:a16="http://schemas.microsoft.com/office/drawing/2014/main" id="{B7468F45-3B20-E2AF-CEF7-1F175B57C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038570" y="3353272"/>
            <a:ext cx="1603457" cy="803316"/>
          </a:xfrm>
          <a:prstGeom prst="rect">
            <a:avLst/>
          </a:prstGeom>
        </p:spPr>
      </p:pic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7EB486-B6DC-55F5-C9F3-A8DDB0F8E851}"/>
              </a:ext>
            </a:extLst>
          </p:cNvPr>
          <p:cNvCxnSpPr>
            <a:cxnSpLocks/>
          </p:cNvCxnSpPr>
          <p:nvPr/>
        </p:nvCxnSpPr>
        <p:spPr>
          <a:xfrm flipH="1">
            <a:off x="7603349" y="1121910"/>
            <a:ext cx="12827" cy="2145640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D203157-30F8-E8DC-4A8A-229EA350DBD6}"/>
              </a:ext>
            </a:extLst>
          </p:cNvPr>
          <p:cNvSpPr/>
          <p:nvPr/>
        </p:nvSpPr>
        <p:spPr>
          <a:xfrm rot="16200000">
            <a:off x="7308467" y="1490622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/>
              <a:t>FINISH</a:t>
            </a:r>
            <a:endParaRPr lang="es-CO" sz="1400" b="1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91418C9-46BB-5F16-E273-2D446B09388A}"/>
              </a:ext>
            </a:extLst>
          </p:cNvPr>
          <p:cNvSpPr/>
          <p:nvPr/>
        </p:nvSpPr>
        <p:spPr>
          <a:xfrm>
            <a:off x="1528586" y="2465418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8AEF0B8-5C09-4F6E-364C-C6FFCFE8C754}"/>
              </a:ext>
            </a:extLst>
          </p:cNvPr>
          <p:cNvSpPr/>
          <p:nvPr/>
        </p:nvSpPr>
        <p:spPr>
          <a:xfrm rot="16200000">
            <a:off x="472718" y="4194849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/>
              <a:t>START</a:t>
            </a:r>
            <a:endParaRPr lang="es-CO" sz="1400" b="1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0159C56C-0FC4-F334-58A7-D4DC8C939F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9464" y="2958036"/>
            <a:ext cx="762000" cy="7747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22F9DB47-4CE4-048C-E64A-E00BC97DA8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454" y="1580737"/>
            <a:ext cx="762000" cy="7747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E5A8AC6A-04C9-4ECA-D83A-F8ECB04665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3812" y="2965922"/>
            <a:ext cx="762000" cy="77470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33D8CC7-5317-9ED2-23E9-D274269105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41188" y="1509260"/>
            <a:ext cx="762000" cy="774700"/>
          </a:xfrm>
          <a:prstGeom prst="rect">
            <a:avLst/>
          </a:prstGeom>
        </p:spPr>
      </p:pic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2792F362-0262-6161-B298-52F208E4B473}"/>
              </a:ext>
            </a:extLst>
          </p:cNvPr>
          <p:cNvSpPr txBox="1">
            <a:spLocks/>
          </p:cNvSpPr>
          <p:nvPr/>
        </p:nvSpPr>
        <p:spPr>
          <a:xfrm>
            <a:off x="1444125" y="2821854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90CAA353-1DC2-7FA0-6A24-B31BA001B09B}"/>
              </a:ext>
            </a:extLst>
          </p:cNvPr>
          <p:cNvSpPr txBox="1">
            <a:spLocks/>
          </p:cNvSpPr>
          <p:nvPr/>
        </p:nvSpPr>
        <p:spPr>
          <a:xfrm>
            <a:off x="1435882" y="3614334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>
              <a:solidFill>
                <a:srgbClr val="333333"/>
              </a:solidFill>
              <a:cs typeface="Arial"/>
            </a:endParaRPr>
          </a:p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018B0CA-5B52-69C6-1004-BAEF7C4FCBBC}"/>
              </a:ext>
            </a:extLst>
          </p:cNvPr>
          <p:cNvSpPr/>
          <p:nvPr/>
        </p:nvSpPr>
        <p:spPr>
          <a:xfrm>
            <a:off x="3103354" y="875850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8FCFAE28-9A0C-C469-37CD-7A8FAF9EDF47}"/>
              </a:ext>
            </a:extLst>
          </p:cNvPr>
          <p:cNvSpPr txBox="1">
            <a:spLocks/>
          </p:cNvSpPr>
          <p:nvPr/>
        </p:nvSpPr>
        <p:spPr>
          <a:xfrm>
            <a:off x="3018893" y="1232286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</a:rPr>
              <a:t>XXXXXXXXXXXXXXXXXXXXXXXXXXXX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6A0AA77A-9500-5009-A8C7-E4B9D9623C7D}"/>
              </a:ext>
            </a:extLst>
          </p:cNvPr>
          <p:cNvSpPr txBox="1">
            <a:spLocks/>
          </p:cNvSpPr>
          <p:nvPr/>
        </p:nvSpPr>
        <p:spPr>
          <a:xfrm>
            <a:off x="3034206" y="1875566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>
              <a:solidFill>
                <a:srgbClr val="333333"/>
              </a:solidFill>
              <a:cs typeface="Arial"/>
            </a:endParaRPr>
          </a:p>
          <a:p>
            <a:pPr marL="0" indent="0" algn="just">
              <a:buClr>
                <a:srgbClr val="669933"/>
              </a:buClr>
              <a:buSzPct val="100000"/>
              <a:buNone/>
            </a:pPr>
            <a:endParaRPr lang="es-CO" sz="1200">
              <a:solidFill>
                <a:srgbClr val="333333"/>
              </a:solidFill>
              <a:cs typeface="Arial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95D5A9E-E540-2B62-F20E-2E071365AA41}"/>
              </a:ext>
            </a:extLst>
          </p:cNvPr>
          <p:cNvSpPr/>
          <p:nvPr/>
        </p:nvSpPr>
        <p:spPr>
          <a:xfrm>
            <a:off x="4656461" y="2472449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31" name="Marcador de contenido 2">
            <a:extLst>
              <a:ext uri="{FF2B5EF4-FFF2-40B4-BE49-F238E27FC236}">
                <a16:creationId xmlns:a16="http://schemas.microsoft.com/office/drawing/2014/main" id="{FB571E55-C4D6-0929-A7B8-F4E3DE04DE41}"/>
              </a:ext>
            </a:extLst>
          </p:cNvPr>
          <p:cNvSpPr txBox="1">
            <a:spLocks/>
          </p:cNvSpPr>
          <p:nvPr/>
        </p:nvSpPr>
        <p:spPr>
          <a:xfrm>
            <a:off x="4572000" y="2828885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32" name="Marcador de contenido 2">
            <a:extLst>
              <a:ext uri="{FF2B5EF4-FFF2-40B4-BE49-F238E27FC236}">
                <a16:creationId xmlns:a16="http://schemas.microsoft.com/office/drawing/2014/main" id="{A7642A37-B25D-5FF7-05B0-211B089224F0}"/>
              </a:ext>
            </a:extLst>
          </p:cNvPr>
          <p:cNvSpPr txBox="1">
            <a:spLocks/>
          </p:cNvSpPr>
          <p:nvPr/>
        </p:nvSpPr>
        <p:spPr>
          <a:xfrm>
            <a:off x="4579461" y="3566396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>
              <a:solidFill>
                <a:srgbClr val="333333"/>
              </a:solidFill>
              <a:cs typeface="Arial"/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43B9D30-7465-DFEC-5E6B-8DEE1845E25D}"/>
              </a:ext>
            </a:extLst>
          </p:cNvPr>
          <p:cNvSpPr/>
          <p:nvPr/>
        </p:nvSpPr>
        <p:spPr>
          <a:xfrm>
            <a:off x="6216715" y="882881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34" name="Marcador de contenido 2">
            <a:extLst>
              <a:ext uri="{FF2B5EF4-FFF2-40B4-BE49-F238E27FC236}">
                <a16:creationId xmlns:a16="http://schemas.microsoft.com/office/drawing/2014/main" id="{52521EB4-6580-7EDF-F989-786F5C2F40FF}"/>
              </a:ext>
            </a:extLst>
          </p:cNvPr>
          <p:cNvSpPr txBox="1">
            <a:spLocks/>
          </p:cNvSpPr>
          <p:nvPr/>
        </p:nvSpPr>
        <p:spPr>
          <a:xfrm>
            <a:off x="6132254" y="1239317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35" name="Marcador de contenido 2">
            <a:extLst>
              <a:ext uri="{FF2B5EF4-FFF2-40B4-BE49-F238E27FC236}">
                <a16:creationId xmlns:a16="http://schemas.microsoft.com/office/drawing/2014/main" id="{27875719-3634-20B1-7D99-01828EA1E3BD}"/>
              </a:ext>
            </a:extLst>
          </p:cNvPr>
          <p:cNvSpPr txBox="1">
            <a:spLocks/>
          </p:cNvSpPr>
          <p:nvPr/>
        </p:nvSpPr>
        <p:spPr>
          <a:xfrm>
            <a:off x="6139715" y="1709840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XXXXXXXXXXXXXXXXXXXXXXXXXXX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A6BBECF3-0BAC-5FDE-C1C7-E3454640B0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092" y="4596197"/>
            <a:ext cx="533427" cy="358793"/>
          </a:xfrm>
          <a:prstGeom prst="rect">
            <a:avLst/>
          </a:prstGeom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F0987C7-FF1D-7C79-CC01-7A4CE195D021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ABBCAF80-6F77-544F-32F6-3F83DEE173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7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4D7FD38-55FA-548A-7EB5-CAACD1533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C3A768F4-1CAA-9E53-9DB7-8CFF0B0103BB}"/>
              </a:ext>
            </a:extLst>
          </p:cNvPr>
          <p:cNvSpPr txBox="1">
            <a:spLocks/>
          </p:cNvSpPr>
          <p:nvPr/>
        </p:nvSpPr>
        <p:spPr>
          <a:xfrm>
            <a:off x="1596738" y="418634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Alcance Técnico del Servicio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A5A9FC9-D911-056D-9337-A687BC8C6E7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36F34E4C-6B01-ABEF-DCFF-9A69E883C059}"/>
              </a:ext>
            </a:extLst>
          </p:cNvPr>
          <p:cNvSpPr txBox="1"/>
          <p:nvPr/>
        </p:nvSpPr>
        <p:spPr>
          <a:xfrm>
            <a:off x="315532" y="907803"/>
            <a:ext cx="8253356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200" b="1">
                <a:solidFill>
                  <a:srgbClr val="333333"/>
                </a:solidFill>
                <a:cs typeface="Calibri"/>
              </a:rPr>
              <a:t>CBIT </a:t>
            </a:r>
            <a:r>
              <a:rPr lang="es-MX" sz="1200">
                <a:solidFill>
                  <a:srgbClr val="333333"/>
                </a:solidFill>
                <a:cs typeface="Calibri"/>
              </a:rPr>
              <a:t>considerará las siguientes funcionalidades</a:t>
            </a:r>
            <a:r>
              <a:rPr lang="es-CO" sz="1200">
                <a:solidFill>
                  <a:srgbClr val="333333"/>
                </a:solidFill>
                <a:cs typeface="Calibri"/>
              </a:rPr>
              <a:t>:</a:t>
            </a:r>
            <a:endParaRPr lang="es-MX" sz="1200">
              <a:solidFill>
                <a:srgbClr val="333333"/>
              </a:solidFill>
              <a:cs typeface="Calibri"/>
            </a:endParaRPr>
          </a:p>
          <a:p>
            <a:pPr algn="just"/>
            <a:endParaRPr lang="es-MX" sz="1200">
              <a:solidFill>
                <a:srgbClr val="333333"/>
              </a:solidFill>
              <a:cs typeface="Calibri" panose="020F0502020204030204" pitchFamily="34" charset="0"/>
            </a:endParaRPr>
          </a:p>
          <a:p>
            <a:pPr marL="228600" indent="-228600" algn="just">
              <a:buAutoNum type="alphaUcPeriod"/>
            </a:pPr>
            <a:r>
              <a:rPr lang="es-MX" sz="1200" b="1" err="1">
                <a:solidFill>
                  <a:srgbClr val="333333"/>
                </a:solidFill>
                <a:cs typeface="Calibri"/>
              </a:rPr>
              <a:t>Xxxxxxxxxxxxxxxxxxxxxxxxxxxxxxxxxxxxxxxxxxxxxx</a:t>
            </a:r>
            <a:endParaRPr lang="es-MX" sz="1200" b="1">
              <a:solidFill>
                <a:srgbClr val="333333"/>
              </a:solidFill>
              <a:cs typeface="Calibri"/>
            </a:endParaRPr>
          </a:p>
          <a:p>
            <a:pPr algn="just"/>
            <a:endParaRPr lang="es-MX" sz="1200" b="1">
              <a:solidFill>
                <a:srgbClr val="333333"/>
              </a:solidFill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MX" sz="1200" b="1">
                <a:solidFill>
                  <a:srgbClr val="333333"/>
                </a:solidFill>
                <a:cs typeface="Calibri"/>
              </a:rPr>
              <a:t>Actividades a realizar por CBIT: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F038376-B2F1-C37F-5512-A2F21AF34F7C}"/>
              </a:ext>
            </a:extLst>
          </p:cNvPr>
          <p:cNvGrpSpPr/>
          <p:nvPr/>
        </p:nvGrpSpPr>
        <p:grpSpPr>
          <a:xfrm>
            <a:off x="315532" y="2062070"/>
            <a:ext cx="8512934" cy="1201341"/>
            <a:chOff x="261994" y="1984164"/>
            <a:chExt cx="8512934" cy="1201341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A56B1BF8-862B-0D04-6578-B4C8B47135A2}"/>
                </a:ext>
              </a:extLst>
            </p:cNvPr>
            <p:cNvGrpSpPr/>
            <p:nvPr/>
          </p:nvGrpSpPr>
          <p:grpSpPr>
            <a:xfrm>
              <a:off x="261994" y="1984164"/>
              <a:ext cx="8512934" cy="717255"/>
              <a:chOff x="-204003" y="1247475"/>
              <a:chExt cx="8512934" cy="717255"/>
            </a:xfrm>
          </p:grpSpPr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DB39C54D-DCE8-75BA-AF10-5FC15F73240B}"/>
                  </a:ext>
                </a:extLst>
              </p:cNvPr>
              <p:cNvSpPr/>
              <p:nvPr/>
            </p:nvSpPr>
            <p:spPr>
              <a:xfrm>
                <a:off x="-132263" y="1255096"/>
                <a:ext cx="8441194" cy="7096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80000" rIns="91440" bIns="45720" rtlCol="0" anchor="ctr"/>
              <a:lstStyle/>
              <a:p>
                <a:pPr algn="just"/>
                <a:r>
                  <a:rPr kumimoji="0" lang="es-ES" sz="1200" i="0" u="none" strike="noStrike" kern="1200" cap="none" spc="0" normalizeH="0" baseline="0" noProof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XXXXXxxxxxxxxxxxxxxxxxxxxxxxxxxxxxxxxxxxxxxxxxxxxxxxxxx</a:t>
                </a:r>
                <a:endParaRPr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kumimoji="0" lang="es-ES" sz="1200" i="0" u="none" strike="noStrike" kern="1200" cap="none" spc="0" normalizeH="0" baseline="0" noProof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</a:t>
                </a:r>
                <a:endParaRPr kumimoji="0"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</p:txBody>
          </p:sp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E56A94A8-F23E-F74F-6F61-091C3D66FAA7}"/>
                  </a:ext>
                </a:extLst>
              </p:cNvPr>
              <p:cNvSpPr/>
              <p:nvPr/>
            </p:nvSpPr>
            <p:spPr>
              <a:xfrm>
                <a:off x="-204003" y="1247475"/>
                <a:ext cx="71740" cy="709633"/>
              </a:xfrm>
              <a:prstGeom prst="rect">
                <a:avLst/>
              </a:prstGeom>
              <a:solidFill>
                <a:srgbClr val="01B0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0E174530-3125-F415-03A5-B3726B04F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9043" y="2073080"/>
              <a:ext cx="230226" cy="149160"/>
            </a:xfrm>
            <a:prstGeom prst="rect">
              <a:avLst/>
            </a:prstGeom>
          </p:spPr>
        </p:pic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2D659DFF-947D-27FC-3651-D089BD64A58E}"/>
                </a:ext>
              </a:extLst>
            </p:cNvPr>
            <p:cNvGrpSpPr/>
            <p:nvPr/>
          </p:nvGrpSpPr>
          <p:grpSpPr>
            <a:xfrm>
              <a:off x="345822" y="2656653"/>
              <a:ext cx="8405856" cy="528852"/>
              <a:chOff x="357447" y="2565343"/>
              <a:chExt cx="8405856" cy="528852"/>
            </a:xfrm>
          </p:grpSpPr>
          <p:sp>
            <p:nvSpPr>
              <p:cNvPr id="10" name="Rectángulo: esquinas redondeadas 9">
                <a:extLst>
                  <a:ext uri="{FF2B5EF4-FFF2-40B4-BE49-F238E27FC236}">
                    <a16:creationId xmlns:a16="http://schemas.microsoft.com/office/drawing/2014/main" id="{097DBA00-3389-A4E2-DEDB-6563DDD6D271}"/>
                  </a:ext>
                </a:extLst>
              </p:cNvPr>
              <p:cNvSpPr/>
              <p:nvPr/>
            </p:nvSpPr>
            <p:spPr>
              <a:xfrm>
                <a:off x="357447" y="2565343"/>
                <a:ext cx="8405856" cy="528852"/>
              </a:xfrm>
              <a:prstGeom prst="roundRect">
                <a:avLst>
                  <a:gd name="adj" fmla="val 30126"/>
                </a:avLst>
              </a:prstGeom>
              <a:gradFill>
                <a:gsLst>
                  <a:gs pos="0">
                    <a:srgbClr val="02AE3E"/>
                  </a:gs>
                  <a:gs pos="100000">
                    <a:srgbClr val="1D5180"/>
                  </a:gs>
                </a:gsLst>
                <a:lin ang="14400000" scaled="0"/>
              </a:gradFill>
              <a:ln>
                <a:noFill/>
              </a:ln>
              <a:effectLst>
                <a:outerShdw blurRad="101600" sx="102000" sy="102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11" name="Imagen 10">
                <a:extLst>
                  <a:ext uri="{FF2B5EF4-FFF2-40B4-BE49-F238E27FC236}">
                    <a16:creationId xmlns:a16="http://schemas.microsoft.com/office/drawing/2014/main" id="{A5F68104-2CE8-8A70-F314-860B2467B5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biLevel thresh="25000"/>
              </a:blip>
              <a:stretch>
                <a:fillRect/>
              </a:stretch>
            </p:blipFill>
            <p:spPr>
              <a:xfrm>
                <a:off x="476164" y="2712450"/>
                <a:ext cx="182094" cy="234638"/>
              </a:xfrm>
              <a:prstGeom prst="rect">
                <a:avLst/>
              </a:prstGeom>
            </p:spPr>
          </p:pic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C1E827A-7D85-FBD7-3326-44964AD76550}"/>
                  </a:ext>
                </a:extLst>
              </p:cNvPr>
              <p:cNvSpPr txBox="1"/>
              <p:nvPr/>
            </p:nvSpPr>
            <p:spPr>
              <a:xfrm>
                <a:off x="705069" y="2675880"/>
                <a:ext cx="7962767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just"/>
                <a:r>
                  <a:rPr lang="es-MX" sz="1200" err="1">
                    <a:solidFill>
                      <a:srgbClr val="FEFEFE"/>
                    </a:solidFill>
                    <a:cs typeface="Calibri"/>
                  </a:rPr>
                  <a:t>Xxxxxxxxxxxxxxxxxxxxxxxxxxxxxxxxxxxxxxxxxxx</a:t>
                </a:r>
                <a:endParaRPr lang="es-MX" sz="1200">
                  <a:solidFill>
                    <a:srgbClr val="FEFEFE"/>
                  </a:solidFill>
                  <a:cs typeface="Calibri"/>
                </a:endParaRPr>
              </a:p>
            </p:txBody>
          </p:sp>
        </p:grp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BB06428-4984-00E5-6F34-4BF79650AB08}"/>
              </a:ext>
            </a:extLst>
          </p:cNvPr>
          <p:cNvGrpSpPr/>
          <p:nvPr/>
        </p:nvGrpSpPr>
        <p:grpSpPr>
          <a:xfrm>
            <a:off x="315532" y="3455049"/>
            <a:ext cx="8512934" cy="1201341"/>
            <a:chOff x="261994" y="1984164"/>
            <a:chExt cx="8512934" cy="1201341"/>
          </a:xfrm>
        </p:grpSpPr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595E00B4-1512-273C-FDAF-40AC30B79572}"/>
                </a:ext>
              </a:extLst>
            </p:cNvPr>
            <p:cNvGrpSpPr/>
            <p:nvPr/>
          </p:nvGrpSpPr>
          <p:grpSpPr>
            <a:xfrm>
              <a:off x="261994" y="1984164"/>
              <a:ext cx="8512934" cy="717255"/>
              <a:chOff x="-204003" y="1247475"/>
              <a:chExt cx="8512934" cy="717255"/>
            </a:xfrm>
          </p:grpSpPr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47B1BF94-CAAB-59CD-502C-7AF865119243}"/>
                  </a:ext>
                </a:extLst>
              </p:cNvPr>
              <p:cNvSpPr/>
              <p:nvPr/>
            </p:nvSpPr>
            <p:spPr>
              <a:xfrm>
                <a:off x="-132263" y="1255096"/>
                <a:ext cx="8441194" cy="7096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80000" rIns="91440" bIns="45720" rtlCol="0" anchor="ctr"/>
              <a:lstStyle/>
              <a:p>
                <a:pPr algn="just"/>
                <a:r>
                  <a:rPr kumimoji="0" lang="es-ES" sz="1200" i="0" u="none" strike="noStrike" kern="1200" cap="none" spc="0" normalizeH="0" baseline="0" noProof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Xxxxxxxxxxxxxxxxxxxxxxxxxxxxxxxxxxxxxxxxxxxxxxxxxxxxxxxxxxxxxxxxxxxxxxxx</a:t>
                </a:r>
                <a:endParaRPr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kumimoji="0" lang="es-ES" sz="1200" i="0" u="none" strike="noStrike" kern="1200" cap="none" spc="0" normalizeH="0" baseline="0" noProof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</a:t>
                </a:r>
                <a:endParaRPr kumimoji="0"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</p:txBody>
          </p:sp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3672A9B2-3E62-1836-3899-55B166DF10AF}"/>
                  </a:ext>
                </a:extLst>
              </p:cNvPr>
              <p:cNvSpPr/>
              <p:nvPr/>
            </p:nvSpPr>
            <p:spPr>
              <a:xfrm>
                <a:off x="-204003" y="1247475"/>
                <a:ext cx="71740" cy="709633"/>
              </a:xfrm>
              <a:prstGeom prst="rect">
                <a:avLst/>
              </a:prstGeom>
              <a:solidFill>
                <a:srgbClr val="01B0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54D45196-C43B-2337-A4AC-D323648CD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9043" y="2073080"/>
              <a:ext cx="230226" cy="149160"/>
            </a:xfrm>
            <a:prstGeom prst="rect">
              <a:avLst/>
            </a:prstGeom>
          </p:spPr>
        </p:pic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238ECF0B-C148-1AE7-6CE4-03A3FCED8BF6}"/>
                </a:ext>
              </a:extLst>
            </p:cNvPr>
            <p:cNvGrpSpPr/>
            <p:nvPr/>
          </p:nvGrpSpPr>
          <p:grpSpPr>
            <a:xfrm>
              <a:off x="345822" y="2656653"/>
              <a:ext cx="8405856" cy="528852"/>
              <a:chOff x="357447" y="2565343"/>
              <a:chExt cx="8405856" cy="528852"/>
            </a:xfrm>
          </p:grpSpPr>
          <p:sp>
            <p:nvSpPr>
              <p:cNvPr id="22" name="Rectángulo: esquinas redondeadas 21">
                <a:extLst>
                  <a:ext uri="{FF2B5EF4-FFF2-40B4-BE49-F238E27FC236}">
                    <a16:creationId xmlns:a16="http://schemas.microsoft.com/office/drawing/2014/main" id="{82C93978-E422-02E8-59BC-F35017009B8E}"/>
                  </a:ext>
                </a:extLst>
              </p:cNvPr>
              <p:cNvSpPr/>
              <p:nvPr/>
            </p:nvSpPr>
            <p:spPr>
              <a:xfrm>
                <a:off x="357447" y="2565343"/>
                <a:ext cx="8405856" cy="528852"/>
              </a:xfrm>
              <a:prstGeom prst="roundRect">
                <a:avLst>
                  <a:gd name="adj" fmla="val 30126"/>
                </a:avLst>
              </a:prstGeom>
              <a:gradFill>
                <a:gsLst>
                  <a:gs pos="0">
                    <a:srgbClr val="02AE3E"/>
                  </a:gs>
                  <a:gs pos="100000">
                    <a:srgbClr val="1D5180"/>
                  </a:gs>
                </a:gsLst>
                <a:lin ang="14400000" scaled="0"/>
              </a:gradFill>
              <a:ln>
                <a:noFill/>
              </a:ln>
              <a:effectLst>
                <a:outerShdw blurRad="101600" sx="102000" sy="102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23" name="Imagen 22">
                <a:extLst>
                  <a:ext uri="{FF2B5EF4-FFF2-40B4-BE49-F238E27FC236}">
                    <a16:creationId xmlns:a16="http://schemas.microsoft.com/office/drawing/2014/main" id="{2243BA0E-E8CA-B7C6-272E-69ED534CBF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biLevel thresh="25000"/>
              </a:blip>
              <a:stretch>
                <a:fillRect/>
              </a:stretch>
            </p:blipFill>
            <p:spPr>
              <a:xfrm>
                <a:off x="476164" y="2712450"/>
                <a:ext cx="182094" cy="234638"/>
              </a:xfrm>
              <a:prstGeom prst="rect">
                <a:avLst/>
              </a:prstGeom>
            </p:spPr>
          </p:pic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21DD819C-1076-9A87-9361-8EB02474F2DF}"/>
                  </a:ext>
                </a:extLst>
              </p:cNvPr>
              <p:cNvSpPr txBox="1"/>
              <p:nvPr/>
            </p:nvSpPr>
            <p:spPr>
              <a:xfrm>
                <a:off x="705069" y="2675880"/>
                <a:ext cx="7962767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just"/>
                <a:r>
                  <a:rPr lang="es-MX" sz="1200" err="1">
                    <a:solidFill>
                      <a:srgbClr val="FEFEFE"/>
                    </a:solidFill>
                    <a:cs typeface="Calibri"/>
                  </a:rPr>
                  <a:t>Xxxxxxxxxxxxxxxxxxxxxxxxxxxxxxxxxxxxxxxxxxx</a:t>
                </a:r>
                <a:endParaRPr lang="es-MX" sz="1200">
                  <a:solidFill>
                    <a:srgbClr val="FEFEFE"/>
                  </a:solidFill>
                  <a:cs typeface="Calibri"/>
                </a:endParaRPr>
              </a:p>
            </p:txBody>
          </p:sp>
        </p:grpSp>
      </p:grpSp>
      <p:pic>
        <p:nvPicPr>
          <p:cNvPr id="16" name="Imagen 15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B6A85AE7-D157-81AE-8541-80673700EE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440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B06EA-78B4-70E9-D7A0-95C6A77C6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0F32524-0263-3704-9480-1600ECAF3C1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1EC39243-A870-C3B9-DE54-B8A2B2B47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6738" y="401837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Entregables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221FD3A-AA86-C1EC-E687-BD9EA6C650EC}"/>
              </a:ext>
            </a:extLst>
          </p:cNvPr>
          <p:cNvSpPr txBox="1"/>
          <p:nvPr/>
        </p:nvSpPr>
        <p:spPr>
          <a:xfrm>
            <a:off x="136374" y="739614"/>
            <a:ext cx="8815150" cy="748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685800">
              <a:spcBef>
                <a:spcPts val="750"/>
              </a:spcBef>
              <a:defRPr/>
            </a:pPr>
            <a:r>
              <a:rPr lang="es-CO" sz="1200" dirty="0">
                <a:solidFill>
                  <a:srgbClr val="333333"/>
                </a:solidFill>
                <a:cs typeface="Arial"/>
              </a:rPr>
              <a:t>Toda la documentación, informes y avances generados durante la gestión del proyecto se entregan mediante la herramienta Azure </a:t>
            </a:r>
            <a:r>
              <a:rPr lang="es-CO" sz="1200" dirty="0" err="1">
                <a:solidFill>
                  <a:srgbClr val="333333"/>
                </a:solidFill>
                <a:cs typeface="Arial"/>
              </a:rPr>
              <a:t>Devops</a:t>
            </a:r>
            <a:r>
              <a:rPr lang="es-CO" sz="1200" dirty="0">
                <a:solidFill>
                  <a:srgbClr val="333333"/>
                </a:solidFill>
                <a:cs typeface="Arial"/>
              </a:rPr>
              <a:t>, el código fuente y demás artefactos quedan en el repositorio establecido por </a:t>
            </a:r>
            <a:r>
              <a:rPr lang="es-CO" sz="1200" b="1" dirty="0">
                <a:solidFill>
                  <a:schemeClr val="accent1"/>
                </a:solidFill>
                <a:cs typeface="Arial"/>
              </a:rPr>
              <a:t>                       </a:t>
            </a:r>
            <a:r>
              <a:rPr lang="es-CO" sz="1200" dirty="0">
                <a:solidFill>
                  <a:srgbClr val="333333"/>
                </a:solidFill>
                <a:cs typeface="Arial"/>
              </a:rPr>
              <a:t>. </a:t>
            </a:r>
          </a:p>
          <a:p>
            <a:pPr algn="just" defTabSz="685800">
              <a:spcBef>
                <a:spcPts val="750"/>
              </a:spcBef>
              <a:defRPr/>
            </a:pPr>
            <a:r>
              <a:rPr lang="es-CO" sz="1200" b="1" dirty="0">
                <a:solidFill>
                  <a:schemeClr val="accent1"/>
                </a:solidFill>
                <a:cs typeface="Arial"/>
              </a:rPr>
              <a:t>                   </a:t>
            </a:r>
            <a:r>
              <a:rPr lang="es-CO" sz="1200" b="1" dirty="0">
                <a:solidFill>
                  <a:srgbClr val="333333"/>
                </a:solidFill>
                <a:cs typeface="Arial"/>
              </a:rPr>
              <a:t> </a:t>
            </a:r>
            <a:r>
              <a:rPr lang="es-MX" sz="1200" b="1" dirty="0">
                <a:solidFill>
                  <a:srgbClr val="333333"/>
                </a:solidFill>
                <a:cs typeface="Arial"/>
              </a:rPr>
              <a:t> </a:t>
            </a:r>
            <a:r>
              <a:rPr lang="es-MX" sz="1200" dirty="0">
                <a:solidFill>
                  <a:srgbClr val="333333"/>
                </a:solidFill>
                <a:cs typeface="Arial"/>
              </a:rPr>
              <a:t>y </a:t>
            </a:r>
            <a:r>
              <a:rPr lang="es-MX" sz="1200" b="1" dirty="0">
                <a:solidFill>
                  <a:srgbClr val="333333"/>
                </a:solidFill>
                <a:cs typeface="Arial"/>
              </a:rPr>
              <a:t>PERIFERIA IT GROUP </a:t>
            </a:r>
            <a:r>
              <a:rPr lang="es-MX" sz="1200" dirty="0">
                <a:solidFill>
                  <a:srgbClr val="333333"/>
                </a:solidFill>
                <a:cs typeface="Arial"/>
              </a:rPr>
              <a:t>acordarán los formatos que deben seguir los entregables.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DAEDE91-EE19-22FD-055D-47FEAD325E8E}"/>
              </a:ext>
            </a:extLst>
          </p:cNvPr>
          <p:cNvSpPr/>
          <p:nvPr/>
        </p:nvSpPr>
        <p:spPr>
          <a:xfrm>
            <a:off x="446877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9D92BB4-5930-5734-E7A2-3C15FABE6180}"/>
              </a:ext>
            </a:extLst>
          </p:cNvPr>
          <p:cNvSpPr txBox="1">
            <a:spLocks/>
          </p:cNvSpPr>
          <p:nvPr/>
        </p:nvSpPr>
        <p:spPr>
          <a:xfrm>
            <a:off x="537492" y="2196178"/>
            <a:ext cx="272580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err="1">
                <a:solidFill>
                  <a:srgbClr val="00B0F0"/>
                </a:solidFill>
                <a:latin typeface="Arial"/>
                <a:cs typeface="Calibri"/>
              </a:rPr>
              <a:t>Xxxxxx</a:t>
            </a:r>
            <a:endParaRPr lang="es-CO" sz="1200" b="1">
              <a:solidFill>
                <a:srgbClr val="00B0F0"/>
              </a:solidFill>
              <a:latin typeface="Arial"/>
              <a:cs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69614BA-4C66-1E9F-BEEF-33EF5F512964}"/>
              </a:ext>
            </a:extLst>
          </p:cNvPr>
          <p:cNvSpPr txBox="1"/>
          <p:nvPr/>
        </p:nvSpPr>
        <p:spPr>
          <a:xfrm>
            <a:off x="552827" y="2623250"/>
            <a:ext cx="2300506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967A6A2-CBF1-97A3-7EC1-4F0433B99F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6466" y="1856241"/>
            <a:ext cx="412266" cy="402001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AF70BED-6B8A-3B40-76F1-9B43D2381FF8}"/>
              </a:ext>
            </a:extLst>
          </p:cNvPr>
          <p:cNvSpPr/>
          <p:nvPr/>
        </p:nvSpPr>
        <p:spPr>
          <a:xfrm>
            <a:off x="3197310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68040AED-0742-18FA-8AA8-9A822BE552AB}"/>
              </a:ext>
            </a:extLst>
          </p:cNvPr>
          <p:cNvSpPr txBox="1">
            <a:spLocks/>
          </p:cNvSpPr>
          <p:nvPr/>
        </p:nvSpPr>
        <p:spPr>
          <a:xfrm>
            <a:off x="3287925" y="2196178"/>
            <a:ext cx="232066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err="1">
                <a:solidFill>
                  <a:srgbClr val="00B0F0"/>
                </a:solidFill>
                <a:latin typeface="Arial"/>
                <a:cs typeface="Calibri"/>
              </a:rPr>
              <a:t>Xxxxxxxx</a:t>
            </a:r>
            <a:endParaRPr lang="es-CO" sz="1200" b="1">
              <a:solidFill>
                <a:srgbClr val="00B0F0"/>
              </a:solidFill>
              <a:latin typeface="Arial"/>
              <a:cs typeface="Calibri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56F59CF-31E9-31A3-AEFE-607448936085}"/>
              </a:ext>
            </a:extLst>
          </p:cNvPr>
          <p:cNvSpPr txBox="1"/>
          <p:nvPr/>
        </p:nvSpPr>
        <p:spPr>
          <a:xfrm>
            <a:off x="3325064" y="2623250"/>
            <a:ext cx="2305334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7ED20777-8B07-C193-94DF-CF0BB96B1B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18844" y="1843809"/>
            <a:ext cx="398488" cy="333758"/>
          </a:xfrm>
          <a:prstGeom prst="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C95487D0-955E-0D02-955C-E42E28AFF808}"/>
              </a:ext>
            </a:extLst>
          </p:cNvPr>
          <p:cNvSpPr/>
          <p:nvPr/>
        </p:nvSpPr>
        <p:spPr>
          <a:xfrm>
            <a:off x="5974893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3F4CA937-25F3-5D96-B9B5-6A45B129847B}"/>
              </a:ext>
            </a:extLst>
          </p:cNvPr>
          <p:cNvSpPr txBox="1">
            <a:spLocks/>
          </p:cNvSpPr>
          <p:nvPr/>
        </p:nvSpPr>
        <p:spPr>
          <a:xfrm>
            <a:off x="6065508" y="2196178"/>
            <a:ext cx="232066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err="1">
                <a:solidFill>
                  <a:srgbClr val="00B0F0"/>
                </a:solidFill>
                <a:latin typeface="Arial"/>
                <a:cs typeface="Calibri"/>
              </a:rPr>
              <a:t>Xxxxxxxx</a:t>
            </a:r>
            <a:endParaRPr lang="es-CO" sz="1200" b="1">
              <a:solidFill>
                <a:srgbClr val="00B0F0"/>
              </a:solidFill>
              <a:latin typeface="Arial"/>
              <a:cs typeface="Calibri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2F9B0EA-D219-F658-7AEB-E335DC9C1C36}"/>
              </a:ext>
            </a:extLst>
          </p:cNvPr>
          <p:cNvSpPr txBox="1"/>
          <p:nvPr/>
        </p:nvSpPr>
        <p:spPr>
          <a:xfrm>
            <a:off x="6097303" y="2623250"/>
            <a:ext cx="2305334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818F63F8-117A-5F37-87B6-BCF751DF97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96427" y="1827211"/>
            <a:ext cx="287813" cy="366178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18D46CA2-02E3-2D32-8B08-8AB0B06F9D57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n 11">
            <a:extLst>
              <a:ext uri="{FF2B5EF4-FFF2-40B4-BE49-F238E27FC236}">
                <a16:creationId xmlns:a16="http://schemas.microsoft.com/office/drawing/2014/main" id="{AEADBCA0-C2E0-3F78-F630-9C0207890C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0041" y="971088"/>
            <a:ext cx="530206" cy="234277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8AC7DEB3-9A6A-5AEF-08CB-65A3B322FD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393" y="1203646"/>
            <a:ext cx="530206" cy="234277"/>
          </a:xfrm>
          <a:prstGeom prst="rect">
            <a:avLst/>
          </a:prstGeom>
        </p:spPr>
      </p:pic>
      <p:pic>
        <p:nvPicPr>
          <p:cNvPr id="21" name="Imagen 20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7BF66004-6112-9F37-F826-4D774A0161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996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4DFF4EC-CDB8-A07B-81B5-678EADD4FBE1}"/>
              </a:ext>
            </a:extLst>
          </p:cNvPr>
          <p:cNvSpPr/>
          <p:nvPr/>
        </p:nvSpPr>
        <p:spPr>
          <a:xfrm>
            <a:off x="0" y="0"/>
            <a:ext cx="9144000" cy="5148263"/>
          </a:xfrm>
          <a:prstGeom prst="rect">
            <a:avLst/>
          </a:prstGeom>
          <a:solidFill>
            <a:srgbClr val="CCFF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A58C86A-CF46-45FE-7599-15943B52FA9C}"/>
              </a:ext>
            </a:extLst>
          </p:cNvPr>
          <p:cNvGrpSpPr/>
          <p:nvPr/>
        </p:nvGrpSpPr>
        <p:grpSpPr>
          <a:xfrm>
            <a:off x="445717" y="1331253"/>
            <a:ext cx="1550783" cy="3542912"/>
            <a:chOff x="445717" y="1331253"/>
            <a:chExt cx="1550783" cy="3542912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AE23CC87-550F-1D3C-CCAA-B7BF3E7A2FD5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9" name="Rectángulo redondeado 8">
                <a:extLst>
                  <a:ext uri="{FF2B5EF4-FFF2-40B4-BE49-F238E27FC236}">
                    <a16:creationId xmlns:a16="http://schemas.microsoft.com/office/drawing/2014/main" id="{1977E006-F282-56F1-1443-1E3DFD20C1D9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20D9EAF-B9CB-F4FB-DA94-F60C5337A13D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" name="Elipse 4">
                <a:extLst>
                  <a:ext uri="{FF2B5EF4-FFF2-40B4-BE49-F238E27FC236}">
                    <a16:creationId xmlns:a16="http://schemas.microsoft.com/office/drawing/2014/main" id="{8BB44342-A5D6-9B69-84D5-142F080B01C9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36A8EAC7-B13A-7318-8CF6-B9CD50F17807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3CDA744-3030-39AF-02EC-7EDC60529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 </a:t>
            </a:r>
          </a:p>
        </p:txBody>
      </p:sp>
      <p:sp>
        <p:nvSpPr>
          <p:cNvPr id="3" name="Marcador de contenido 6">
            <a:extLst>
              <a:ext uri="{FF2B5EF4-FFF2-40B4-BE49-F238E27FC236}">
                <a16:creationId xmlns:a16="http://schemas.microsoft.com/office/drawing/2014/main" id="{C497BE85-B93E-3D43-8C1A-C3FBF9AF4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308" y="508624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Perfiles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FA7465B8-2467-A46D-0494-9654654983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4919" y="1376315"/>
            <a:ext cx="900000" cy="900000"/>
          </a:xfrm>
          <a:prstGeom prst="rect">
            <a:avLst/>
          </a:prstGeom>
        </p:spPr>
      </p:pic>
      <p:grpSp>
        <p:nvGrpSpPr>
          <p:cNvPr id="25" name="Grupo 24">
            <a:extLst>
              <a:ext uri="{FF2B5EF4-FFF2-40B4-BE49-F238E27FC236}">
                <a16:creationId xmlns:a16="http://schemas.microsoft.com/office/drawing/2014/main" id="{0F357688-9109-2D2C-6751-40D5AF535341}"/>
              </a:ext>
            </a:extLst>
          </p:cNvPr>
          <p:cNvGrpSpPr/>
          <p:nvPr/>
        </p:nvGrpSpPr>
        <p:grpSpPr>
          <a:xfrm>
            <a:off x="2435455" y="1331253"/>
            <a:ext cx="1550783" cy="3542912"/>
            <a:chOff x="445717" y="1331253"/>
            <a:chExt cx="1550783" cy="3542912"/>
          </a:xfrm>
        </p:grpSpPr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78134B0E-144B-37DB-CB22-21F96314C3EC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30" name="Rectángulo redondeado 8">
                <a:extLst>
                  <a:ext uri="{FF2B5EF4-FFF2-40B4-BE49-F238E27FC236}">
                    <a16:creationId xmlns:a16="http://schemas.microsoft.com/office/drawing/2014/main" id="{1256C092-F364-6FC4-16FA-95E498AA167C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5508629C-0603-0631-6491-4AE86FCC4C05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19E91CD8-4F90-A87B-73E7-3F31251BF146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07C7D5F2-671A-DC73-67E7-9DAB89A2FA11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100CA3A1-3E29-AD5A-F8E8-C7960EFAD165}"/>
              </a:ext>
            </a:extLst>
          </p:cNvPr>
          <p:cNvGrpSpPr/>
          <p:nvPr/>
        </p:nvGrpSpPr>
        <p:grpSpPr>
          <a:xfrm>
            <a:off x="4539436" y="1293562"/>
            <a:ext cx="1550783" cy="3542912"/>
            <a:chOff x="445717" y="1331253"/>
            <a:chExt cx="1550783" cy="3542912"/>
          </a:xfrm>
        </p:grpSpPr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F24DD69C-8475-D7CD-0C30-EA6471E8B04E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47" name="Rectángulo redondeado 8">
                <a:extLst>
                  <a:ext uri="{FF2B5EF4-FFF2-40B4-BE49-F238E27FC236}">
                    <a16:creationId xmlns:a16="http://schemas.microsoft.com/office/drawing/2014/main" id="{B123DAD5-08CB-7305-F258-0CE44A7AE7B7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CA692F6B-3A5E-B844-36AE-5EF722FA14DF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9" name="Elipse 48">
                <a:extLst>
                  <a:ext uri="{FF2B5EF4-FFF2-40B4-BE49-F238E27FC236}">
                    <a16:creationId xmlns:a16="http://schemas.microsoft.com/office/drawing/2014/main" id="{D792071B-B349-ABE3-F5B4-10E5DF176591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F8F3D9F8-B350-3380-A7B5-C849BF8040F8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B4DA1892-E940-B7C3-6B2D-0732ADD8E2BC}"/>
              </a:ext>
            </a:extLst>
          </p:cNvPr>
          <p:cNvGrpSpPr/>
          <p:nvPr/>
        </p:nvGrpSpPr>
        <p:grpSpPr>
          <a:xfrm>
            <a:off x="6680393" y="1257706"/>
            <a:ext cx="1550783" cy="3542912"/>
            <a:chOff x="445717" y="1331253"/>
            <a:chExt cx="1550783" cy="3542912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3D05E1FC-7BC5-FD25-6D0C-5AD2B6B79FD7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53" name="Rectángulo redondeado 8">
                <a:extLst>
                  <a:ext uri="{FF2B5EF4-FFF2-40B4-BE49-F238E27FC236}">
                    <a16:creationId xmlns:a16="http://schemas.microsoft.com/office/drawing/2014/main" id="{3A1D45C9-8761-47E2-D52F-26564C0BBB4B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99272F2A-40A4-AE9F-CEAA-38280F9634FD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5" name="Elipse 54">
                <a:extLst>
                  <a:ext uri="{FF2B5EF4-FFF2-40B4-BE49-F238E27FC236}">
                    <a16:creationId xmlns:a16="http://schemas.microsoft.com/office/drawing/2014/main" id="{45B36A2A-40FF-63BC-05D8-6180C14D9F0C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A786DEDB-6E70-0525-0C3F-B6DFE28A23FD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E09FF79-8EF7-21CF-25D8-B08B10CC0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657" y="1376315"/>
            <a:ext cx="900000" cy="900000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F2DD5A06-D2C2-0DEC-C428-3A61A2FD0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168" y="1302889"/>
            <a:ext cx="900000" cy="900000"/>
          </a:xfrm>
          <a:prstGeom prst="rect">
            <a:avLst/>
          </a:prstGeom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ACDA6A21-BDA1-7828-14F9-567A1457223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67770" y="1341108"/>
            <a:ext cx="901736" cy="900000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80355A9-B852-A109-95F1-5AF45462D69A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n 14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A4C32516-3D63-C426-209B-4A1E10F0EB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240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7F825-D0E1-0D7E-D88F-600A70F4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E69272D-EA08-D775-600A-ADA910C25D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92DBB2A7-AA68-3FE1-D9C1-1FB4DA1A8360}"/>
              </a:ext>
            </a:extLst>
          </p:cNvPr>
          <p:cNvSpPr txBox="1">
            <a:spLocks/>
          </p:cNvSpPr>
          <p:nvPr/>
        </p:nvSpPr>
        <p:spPr>
          <a:xfrm>
            <a:off x="1478112" y="41590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Cronograma Aproximado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BBBE3EA3-1B90-0886-DF4E-468518B0703D}"/>
              </a:ext>
            </a:extLst>
          </p:cNvPr>
          <p:cNvGrpSpPr/>
          <p:nvPr/>
        </p:nvGrpSpPr>
        <p:grpSpPr>
          <a:xfrm>
            <a:off x="1002341" y="4398349"/>
            <a:ext cx="7139318" cy="668026"/>
            <a:chOff x="1000542" y="4045286"/>
            <a:chExt cx="7139318" cy="560457"/>
          </a:xfrm>
        </p:grpSpPr>
        <p:sp>
          <p:nvSpPr>
            <p:cNvPr id="4" name="Redondear rectángulo de esquina diagonal 14">
              <a:extLst>
                <a:ext uri="{FF2B5EF4-FFF2-40B4-BE49-F238E27FC236}">
                  <a16:creationId xmlns:a16="http://schemas.microsoft.com/office/drawing/2014/main" id="{1F19676D-2121-1DCD-BEEA-6B0952C2FD83}"/>
                </a:ext>
              </a:extLst>
            </p:cNvPr>
            <p:cNvSpPr/>
            <p:nvPr/>
          </p:nvSpPr>
          <p:spPr>
            <a:xfrm>
              <a:off x="1000542" y="4045286"/>
              <a:ext cx="7139318" cy="560457"/>
            </a:xfrm>
            <a:prstGeom prst="round2DiagRect">
              <a:avLst>
                <a:gd name="adj1" fmla="val 8535"/>
                <a:gd name="adj2" fmla="val 29416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72000" tIns="324000" rIns="72000" bIns="72000" rtlCol="0" anchor="ctr"/>
            <a:lstStyle/>
            <a:p>
              <a:r>
                <a:rPr lang="es-ES" sz="1100" i="1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* Proponemos un sprint 0 para realizar las reuniones iniciales – </a:t>
              </a:r>
              <a:r>
                <a:rPr lang="es-ES" sz="1100" i="1" err="1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Kickoff</a:t>
              </a:r>
              <a:r>
                <a:rPr lang="es-ES" sz="1100" i="1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y prepararnos para el inicio del proyecto..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E4E26894-6207-D69F-F6B4-A77778081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6815" y="4062426"/>
              <a:ext cx="349602" cy="274647"/>
            </a:xfrm>
            <a:prstGeom prst="rect">
              <a:avLst/>
            </a:prstGeom>
          </p:spPr>
        </p:pic>
      </p:grp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FED8D57-D154-F746-4B9F-FF96835040A0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A658C3A3-05C8-F460-C7AD-B44F1F1547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792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CD988DD-AC33-9E6B-D671-548F3FE1BFC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D48A82A4-D9F3-5273-ECA2-C69D0313C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-12032"/>
            <a:ext cx="5885266" cy="52578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D381509-8BEE-0144-4CD4-A185D329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14"/>
            <a:ext cx="5563602" cy="715004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Consideraciones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CDC1CC1-9645-9F59-E0AE-B130E0B7A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BD6804FF-CCD7-71BD-0E3A-897D66E2B790}"/>
              </a:ext>
            </a:extLst>
          </p:cNvPr>
          <p:cNvGrpSpPr/>
          <p:nvPr/>
        </p:nvGrpSpPr>
        <p:grpSpPr>
          <a:xfrm>
            <a:off x="214328" y="1107495"/>
            <a:ext cx="4158890" cy="708641"/>
            <a:chOff x="7269844" y="1511795"/>
            <a:chExt cx="4158890" cy="831267"/>
          </a:xfrm>
        </p:grpSpPr>
        <p:sp>
          <p:nvSpPr>
            <p:cNvPr id="6" name="Redondear rectángulo de esquina diagonal 14">
              <a:extLst>
                <a:ext uri="{FF2B5EF4-FFF2-40B4-BE49-F238E27FC236}">
                  <a16:creationId xmlns:a16="http://schemas.microsoft.com/office/drawing/2014/main" id="{D27067DB-C9A6-102D-D81C-B99E0C27F2FE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6DE15E4-D303-C19C-BBD2-A1FA6AAD5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B37A192E-35D4-0CD5-9184-7FBC8174BDF0}"/>
              </a:ext>
            </a:extLst>
          </p:cNvPr>
          <p:cNvGrpSpPr/>
          <p:nvPr/>
        </p:nvGrpSpPr>
        <p:grpSpPr>
          <a:xfrm>
            <a:off x="195637" y="1978913"/>
            <a:ext cx="4158890" cy="708641"/>
            <a:chOff x="7269844" y="1511795"/>
            <a:chExt cx="4158890" cy="831267"/>
          </a:xfrm>
        </p:grpSpPr>
        <p:sp>
          <p:nvSpPr>
            <p:cNvPr id="11" name="Redondear rectángulo de esquina diagonal 14">
              <a:extLst>
                <a:ext uri="{FF2B5EF4-FFF2-40B4-BE49-F238E27FC236}">
                  <a16:creationId xmlns:a16="http://schemas.microsoft.com/office/drawing/2014/main" id="{FB381829-7045-347E-2517-736DC1292B02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DD68229A-67A5-760B-CE0F-AD54AB867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73EAF91-BF78-49BD-1089-768393847061}"/>
              </a:ext>
            </a:extLst>
          </p:cNvPr>
          <p:cNvGrpSpPr/>
          <p:nvPr/>
        </p:nvGrpSpPr>
        <p:grpSpPr>
          <a:xfrm>
            <a:off x="195637" y="2850332"/>
            <a:ext cx="4158890" cy="708641"/>
            <a:chOff x="7269844" y="1511795"/>
            <a:chExt cx="4158890" cy="831267"/>
          </a:xfrm>
        </p:grpSpPr>
        <p:sp>
          <p:nvSpPr>
            <p:cNvPr id="14" name="Redondear rectángulo de esquina diagonal 14">
              <a:extLst>
                <a:ext uri="{FF2B5EF4-FFF2-40B4-BE49-F238E27FC236}">
                  <a16:creationId xmlns:a16="http://schemas.microsoft.com/office/drawing/2014/main" id="{C93FF70A-FD5E-822C-066D-6DD30E239512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0E8724D6-98B4-C102-E245-901B4B6F6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91D901DF-EAE7-4DE1-5BD9-7FD4D30DF9CB}"/>
              </a:ext>
            </a:extLst>
          </p:cNvPr>
          <p:cNvGrpSpPr/>
          <p:nvPr/>
        </p:nvGrpSpPr>
        <p:grpSpPr>
          <a:xfrm>
            <a:off x="176946" y="3721750"/>
            <a:ext cx="4158890" cy="708641"/>
            <a:chOff x="7269844" y="1511795"/>
            <a:chExt cx="4158890" cy="831267"/>
          </a:xfrm>
        </p:grpSpPr>
        <p:sp>
          <p:nvSpPr>
            <p:cNvPr id="17" name="Redondear rectángulo de esquina diagonal 14">
              <a:extLst>
                <a:ext uri="{FF2B5EF4-FFF2-40B4-BE49-F238E27FC236}">
                  <a16:creationId xmlns:a16="http://schemas.microsoft.com/office/drawing/2014/main" id="{FCB8464A-3B22-B3FC-E0B4-6C68291E015A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</a:t>
              </a:r>
              <a:r>
                <a:rPr lang="es-ES" sz="1200" i="1">
                  <a:solidFill>
                    <a:srgbClr val="333333"/>
                  </a:solidFill>
                  <a:ea typeface="Calibri"/>
                  <a:cs typeface="Calibri"/>
                </a:rPr>
                <a:t>.</a:t>
              </a:r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3BE65DDA-DE50-64E2-D375-F400981FF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8232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C3C08-5717-ECDB-D577-AA9A0C0C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346AF1F0-005D-69A1-429D-D55892F72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331" y="444918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MX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Fuera del Alcance del Servicio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41612057-2B64-6489-DB6F-6A962FC50C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87189" y="-8238"/>
            <a:ext cx="771769" cy="762000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6DCACBB9-107A-8BBA-43C5-7E8BAC0D3454}"/>
              </a:ext>
            </a:extLst>
          </p:cNvPr>
          <p:cNvGrpSpPr/>
          <p:nvPr/>
        </p:nvGrpSpPr>
        <p:grpSpPr>
          <a:xfrm>
            <a:off x="214327" y="855730"/>
            <a:ext cx="8525887" cy="708641"/>
            <a:chOff x="7269843" y="1511795"/>
            <a:chExt cx="8525887" cy="831267"/>
          </a:xfrm>
        </p:grpSpPr>
        <p:sp>
          <p:nvSpPr>
            <p:cNvPr id="7" name="Redondear rectángulo de esquina diagonal 14">
              <a:extLst>
                <a:ext uri="{FF2B5EF4-FFF2-40B4-BE49-F238E27FC236}">
                  <a16:creationId xmlns:a16="http://schemas.microsoft.com/office/drawing/2014/main" id="{8DCB538A-1F82-CB1F-B149-2F96654DD7BC}"/>
                </a:ext>
              </a:extLst>
            </p:cNvPr>
            <p:cNvSpPr/>
            <p:nvPr/>
          </p:nvSpPr>
          <p:spPr>
            <a:xfrm>
              <a:off x="7269843" y="1511795"/>
              <a:ext cx="8525887" cy="831267"/>
            </a:xfrm>
            <a:prstGeom prst="round2DiagRect">
              <a:avLst>
                <a:gd name="adj1" fmla="val 8535"/>
                <a:gd name="adj2" fmla="val 29416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r>
                <a:rPr lang="es-ES" sz="1200" i="1">
                  <a:solidFill>
                    <a:srgbClr val="333333"/>
                  </a:solidFill>
                  <a:latin typeface="Calibri"/>
                  <a:ea typeface="Calibri"/>
                  <a:cs typeface="Calibri"/>
                </a:rPr>
                <a:t>El servicio se prestará de acuerdo con la información obtenida hasta el momento; si estas definiciones cambian, las actividades adicionales serán evaluadas mediante la metodología de control de cambios.</a:t>
              </a:r>
              <a:endParaRPr lang="es-ES" sz="1200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4AF1792D-4677-36CA-AC15-E1EFDC81F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92ABF73B-428D-F894-7ADB-95AF13C310AA}"/>
              </a:ext>
            </a:extLst>
          </p:cNvPr>
          <p:cNvGrpSpPr/>
          <p:nvPr/>
        </p:nvGrpSpPr>
        <p:grpSpPr>
          <a:xfrm>
            <a:off x="227280" y="2205814"/>
            <a:ext cx="5878358" cy="355487"/>
            <a:chOff x="-204003" y="1930587"/>
            <a:chExt cx="5878358" cy="355487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D68E168B-332C-9310-ABEC-7EAF7E89E27B}"/>
                </a:ext>
              </a:extLst>
            </p:cNvPr>
            <p:cNvSpPr/>
            <p:nvPr/>
          </p:nvSpPr>
          <p:spPr>
            <a:xfrm>
              <a:off x="-132263" y="1930587"/>
              <a:ext cx="580661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0FBEF93A-083B-ABA1-C0D0-6A7D3564F91C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0B98600-DB3E-EDC7-F51F-46A9E8BD08D1}"/>
              </a:ext>
            </a:extLst>
          </p:cNvPr>
          <p:cNvGrpSpPr/>
          <p:nvPr/>
        </p:nvGrpSpPr>
        <p:grpSpPr>
          <a:xfrm>
            <a:off x="227280" y="2607841"/>
            <a:ext cx="5878358" cy="355487"/>
            <a:chOff x="-204003" y="1930587"/>
            <a:chExt cx="5878358" cy="355487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69D72D67-4ACF-C0EB-7F4C-5B0827A003C7}"/>
                </a:ext>
              </a:extLst>
            </p:cNvPr>
            <p:cNvSpPr/>
            <p:nvPr/>
          </p:nvSpPr>
          <p:spPr>
            <a:xfrm>
              <a:off x="-132264" y="1930587"/>
              <a:ext cx="5806619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1067D93C-0BA8-E946-BD24-33F7D27CA5C5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0A98122-4A9D-6509-4444-B53433F26EFC}"/>
              </a:ext>
            </a:extLst>
          </p:cNvPr>
          <p:cNvGrpSpPr/>
          <p:nvPr/>
        </p:nvGrpSpPr>
        <p:grpSpPr>
          <a:xfrm>
            <a:off x="227280" y="3009283"/>
            <a:ext cx="5884368" cy="398454"/>
            <a:chOff x="-204003" y="1930587"/>
            <a:chExt cx="5884368" cy="398454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54D1D6F3-D422-2BEA-3D35-F93479563641}"/>
                </a:ext>
              </a:extLst>
            </p:cNvPr>
            <p:cNvSpPr/>
            <p:nvPr/>
          </p:nvSpPr>
          <p:spPr>
            <a:xfrm>
              <a:off x="-132263" y="1930587"/>
              <a:ext cx="5812628" cy="3984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3DED962-1DF0-8C67-C008-9C3E2CFD7D52}"/>
                </a:ext>
              </a:extLst>
            </p:cNvPr>
            <p:cNvSpPr/>
            <p:nvPr/>
          </p:nvSpPr>
          <p:spPr>
            <a:xfrm>
              <a:off x="-204003" y="1930587"/>
              <a:ext cx="71740" cy="398454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49A1E106-105C-3E68-1E1D-879E309DCC2E}"/>
              </a:ext>
            </a:extLst>
          </p:cNvPr>
          <p:cNvGrpSpPr/>
          <p:nvPr/>
        </p:nvGrpSpPr>
        <p:grpSpPr>
          <a:xfrm>
            <a:off x="227280" y="3483716"/>
            <a:ext cx="5884368" cy="355487"/>
            <a:chOff x="-204003" y="1930587"/>
            <a:chExt cx="5884368" cy="355487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26933317-4978-ADAD-ACA8-2EF49FC61682}"/>
                </a:ext>
              </a:extLst>
            </p:cNvPr>
            <p:cNvSpPr/>
            <p:nvPr/>
          </p:nvSpPr>
          <p:spPr>
            <a:xfrm>
              <a:off x="-132263" y="1930587"/>
              <a:ext cx="581262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lang="es-MX" sz="1200" b="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B0263F3C-A0EA-05D9-ED1F-92FFDC22ED05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F33AC1E3-20B7-B3A4-E516-B0D7D5896867}"/>
              </a:ext>
            </a:extLst>
          </p:cNvPr>
          <p:cNvGrpSpPr/>
          <p:nvPr/>
        </p:nvGrpSpPr>
        <p:grpSpPr>
          <a:xfrm>
            <a:off x="227280" y="3885158"/>
            <a:ext cx="5884368" cy="355487"/>
            <a:chOff x="-204003" y="1930587"/>
            <a:chExt cx="5884368" cy="355487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76F0C6C7-175D-46E6-68FF-DEBE37E50F78}"/>
                </a:ext>
              </a:extLst>
            </p:cNvPr>
            <p:cNvSpPr/>
            <p:nvPr/>
          </p:nvSpPr>
          <p:spPr>
            <a:xfrm>
              <a:off x="-132263" y="1930587"/>
              <a:ext cx="581262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A974C9A2-14A1-1EAF-1E99-CC51740C8B0B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D234F398-F4B2-B404-F05C-6434B556EA2E}"/>
              </a:ext>
            </a:extLst>
          </p:cNvPr>
          <p:cNvGrpSpPr/>
          <p:nvPr/>
        </p:nvGrpSpPr>
        <p:grpSpPr>
          <a:xfrm>
            <a:off x="214327" y="4286599"/>
            <a:ext cx="5891312" cy="355487"/>
            <a:chOff x="-204003" y="1930587"/>
            <a:chExt cx="5882362" cy="355487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9EE9F8BF-97F3-5C98-52DB-D8AE3630F52D}"/>
                </a:ext>
              </a:extLst>
            </p:cNvPr>
            <p:cNvSpPr/>
            <p:nvPr/>
          </p:nvSpPr>
          <p:spPr>
            <a:xfrm>
              <a:off x="-132262" y="1930587"/>
              <a:ext cx="5810621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  <a:p>
              <a:endPara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5B2DEE7D-5B5F-ABA2-4990-BDFAD341E224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61D63969-6766-7769-A902-0D9872F7EEEA}"/>
              </a:ext>
            </a:extLst>
          </p:cNvPr>
          <p:cNvSpPr/>
          <p:nvPr/>
        </p:nvSpPr>
        <p:spPr>
          <a:xfrm>
            <a:off x="6249118" y="1673727"/>
            <a:ext cx="2491095" cy="3014311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Título 1">
            <a:extLst>
              <a:ext uri="{FF2B5EF4-FFF2-40B4-BE49-F238E27FC236}">
                <a16:creationId xmlns:a16="http://schemas.microsoft.com/office/drawing/2014/main" id="{F2E7810F-CDA4-75EA-2AAD-067FAD0196F2}"/>
              </a:ext>
            </a:extLst>
          </p:cNvPr>
          <p:cNvSpPr txBox="1">
            <a:spLocks/>
          </p:cNvSpPr>
          <p:nvPr/>
        </p:nvSpPr>
        <p:spPr>
          <a:xfrm>
            <a:off x="6641933" y="1790661"/>
            <a:ext cx="1979946" cy="35528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200" b="1">
                <a:solidFill>
                  <a:schemeClr val="bg1"/>
                </a:solidFill>
                <a:latin typeface="Arial"/>
                <a:cs typeface="Calibri"/>
              </a:rPr>
              <a:t>Fuera del Alcance Pruebas de Calidad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EB39180-4599-F0E8-98C1-AF66EAA3A51C}"/>
              </a:ext>
            </a:extLst>
          </p:cNvPr>
          <p:cNvSpPr txBox="1"/>
          <p:nvPr/>
        </p:nvSpPr>
        <p:spPr>
          <a:xfrm>
            <a:off x="6366850" y="2346597"/>
            <a:ext cx="2255029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722C3C80-0DBD-923E-CAC4-E19EA8EF0BE5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rcRect/>
          <a:stretch/>
        </p:blipFill>
        <p:spPr>
          <a:xfrm>
            <a:off x="6346885" y="1816136"/>
            <a:ext cx="295048" cy="295048"/>
          </a:xfrm>
          <a:prstGeom prst="rect">
            <a:avLst/>
          </a:prstGeom>
        </p:spPr>
      </p:pic>
      <p:sp>
        <p:nvSpPr>
          <p:cNvPr id="35" name="Título 1">
            <a:extLst>
              <a:ext uri="{FF2B5EF4-FFF2-40B4-BE49-F238E27FC236}">
                <a16:creationId xmlns:a16="http://schemas.microsoft.com/office/drawing/2014/main" id="{4913600D-1E49-67A7-392A-88C5CA125ECB}"/>
              </a:ext>
            </a:extLst>
          </p:cNvPr>
          <p:cNvSpPr txBox="1">
            <a:spLocks/>
          </p:cNvSpPr>
          <p:nvPr/>
        </p:nvSpPr>
        <p:spPr>
          <a:xfrm>
            <a:off x="509374" y="1673727"/>
            <a:ext cx="5596263" cy="35528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200" b="1">
                <a:solidFill>
                  <a:srgbClr val="1D1B80"/>
                </a:solidFill>
                <a:latin typeface="Arial"/>
                <a:cs typeface="Calibri"/>
              </a:rPr>
              <a:t>Fuera del Alcance Técnico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0A8FDF0A-F7E0-F61C-F2EA-A6A962E2DC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5147" y="1699202"/>
            <a:ext cx="293408" cy="295048"/>
          </a:xfrm>
          <a:prstGeom prst="rect">
            <a:avLst/>
          </a:prstGeom>
        </p:spPr>
      </p:pic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1C21358C-929A-40EE-2AFD-2203BDDDE7F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F34D16C8-155E-EBBD-A728-384174DCB3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27" y="4821375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685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E799F-F602-F52A-6D6D-95B133AEE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C903F64-EAA7-BB46-0E62-937768D7624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5562E29C-7488-D540-0CEE-3099B1E47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3359" y="401837"/>
            <a:ext cx="2937281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Responsabilidades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8C2C76B-C74C-45D1-4557-A5D7DFC1B2E3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upo 30">
            <a:extLst>
              <a:ext uri="{FF2B5EF4-FFF2-40B4-BE49-F238E27FC236}">
                <a16:creationId xmlns:a16="http://schemas.microsoft.com/office/drawing/2014/main" id="{05D23F6C-033B-C66A-80D3-86FFD17BC739}"/>
              </a:ext>
            </a:extLst>
          </p:cNvPr>
          <p:cNvGrpSpPr/>
          <p:nvPr/>
        </p:nvGrpSpPr>
        <p:grpSpPr>
          <a:xfrm>
            <a:off x="1359206" y="2484639"/>
            <a:ext cx="2954417" cy="540103"/>
            <a:chOff x="774555" y="1621088"/>
            <a:chExt cx="2954417" cy="664985"/>
          </a:xfrm>
        </p:grpSpPr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A6ECAC77-F200-F9FA-D28E-B091BD1D4405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Garantizar la disponibilidad de cada uno de los recursos asignados al proyecto. </a:t>
              </a:r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CD306B7A-DE70-237C-6026-7D4C843E6B9F}"/>
                </a:ext>
              </a:extLst>
            </p:cNvPr>
            <p:cNvSpPr/>
            <p:nvPr/>
          </p:nvSpPr>
          <p:spPr>
            <a:xfrm>
              <a:off x="774555" y="1621089"/>
              <a:ext cx="61811" cy="664984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4EFC27B4-116B-A2FC-D53C-E763C642DB03}"/>
              </a:ext>
            </a:extLst>
          </p:cNvPr>
          <p:cNvGrpSpPr/>
          <p:nvPr/>
        </p:nvGrpSpPr>
        <p:grpSpPr>
          <a:xfrm>
            <a:off x="1359206" y="1746291"/>
            <a:ext cx="2954417" cy="664986"/>
            <a:chOff x="774555" y="1621088"/>
            <a:chExt cx="2954417" cy="664986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88F495E8-0CE9-2A99-2C88-0C865F874FAB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Elaborar un plan de trabajo en AZURE DEVOPS con tareas y las fechas estimadas, de acuerdo con el tiempo total fijado en el contrato</a:t>
              </a:r>
            </a:p>
          </p:txBody>
        </p:sp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754E67F8-E021-96E4-D60A-11AD65452511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F3250AD5-118C-9FDE-D513-A2CEF69199E9}"/>
              </a:ext>
            </a:extLst>
          </p:cNvPr>
          <p:cNvGrpSpPr/>
          <p:nvPr/>
        </p:nvGrpSpPr>
        <p:grpSpPr>
          <a:xfrm>
            <a:off x="1359206" y="3098104"/>
            <a:ext cx="2954417" cy="924261"/>
            <a:chOff x="774555" y="1844199"/>
            <a:chExt cx="2954417" cy="537387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177452CA-022F-0641-A4CD-066792985D70}"/>
                </a:ext>
              </a:extLst>
            </p:cNvPr>
            <p:cNvSpPr/>
            <p:nvPr/>
          </p:nvSpPr>
          <p:spPr>
            <a:xfrm>
              <a:off x="851229" y="1844200"/>
              <a:ext cx="2877743" cy="5373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PERIFERIA IT GROUP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, en base a los insumos entregados por           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           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y para el correcto desarrollo del proyecto se elaborará y administrará la matriz de riesgos y recomendará alternativas de mitigación de riesgo. </a:t>
              </a:r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C23860C8-46D0-E41E-015E-C40111DA5865}"/>
                </a:ext>
              </a:extLst>
            </p:cNvPr>
            <p:cNvSpPr/>
            <p:nvPr/>
          </p:nvSpPr>
          <p:spPr>
            <a:xfrm>
              <a:off x="774555" y="1844199"/>
              <a:ext cx="71739" cy="50589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55F005D6-92F7-450F-BB13-53931F1E82CD}"/>
              </a:ext>
            </a:extLst>
          </p:cNvPr>
          <p:cNvGrpSpPr/>
          <p:nvPr/>
        </p:nvGrpSpPr>
        <p:grpSpPr>
          <a:xfrm>
            <a:off x="1359206" y="4076907"/>
            <a:ext cx="2954417" cy="664986"/>
            <a:chOff x="774555" y="1621088"/>
            <a:chExt cx="2954417" cy="664986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282CDBA-EE53-8AAE-5251-665913CF8B35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Las entregas de parte de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PERIFERIA IT GROUP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se deben realizar técnicamente a las personas definidas por         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             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mediante una sesión de entendimiento.</a:t>
              </a:r>
            </a:p>
          </p:txBody>
        </p: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57E65FB7-074F-B2C5-C370-BDE7B3409CE2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735E9B57-E339-B98E-DB96-A2076B7FC669}"/>
              </a:ext>
            </a:extLst>
          </p:cNvPr>
          <p:cNvGrpSpPr/>
          <p:nvPr/>
        </p:nvGrpSpPr>
        <p:grpSpPr>
          <a:xfrm>
            <a:off x="5137113" y="1714749"/>
            <a:ext cx="2954417" cy="1076384"/>
            <a:chOff x="774555" y="1621088"/>
            <a:chExt cx="2954417" cy="877257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79EC7EB7-72F0-65AC-1F74-633940729E83}"/>
                </a:ext>
              </a:extLst>
            </p:cNvPr>
            <p:cNvSpPr/>
            <p:nvPr/>
          </p:nvSpPr>
          <p:spPr>
            <a:xfrm>
              <a:off x="851229" y="1621088"/>
              <a:ext cx="2877743" cy="877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Una vez terminado el desarrollo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PERIFERIA IT GROUP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notificará formalmente, para que	                      efectúe pruebas, si transcurridos quince (15) días calendario no se recibe ninguna notificación del proceso de pruebas,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PERIFERIA IT GROUP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dará por entregado a satisfacción el producto</a:t>
              </a:r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2FCE3A72-8B96-988B-A2C5-73D740FF484C}"/>
                </a:ext>
              </a:extLst>
            </p:cNvPr>
            <p:cNvSpPr/>
            <p:nvPr/>
          </p:nvSpPr>
          <p:spPr>
            <a:xfrm>
              <a:off x="774555" y="1621089"/>
              <a:ext cx="71740" cy="877256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4F0AD769-6F37-2A7A-C7D4-3398E92D2B04}"/>
              </a:ext>
            </a:extLst>
          </p:cNvPr>
          <p:cNvGrpSpPr/>
          <p:nvPr/>
        </p:nvGrpSpPr>
        <p:grpSpPr>
          <a:xfrm>
            <a:off x="5137113" y="2849826"/>
            <a:ext cx="2954417" cy="1227710"/>
            <a:chOff x="774555" y="1621088"/>
            <a:chExt cx="2954417" cy="764337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D9095CD8-3B1C-7CBB-6912-D4E4614B41B5}"/>
                </a:ext>
              </a:extLst>
            </p:cNvPr>
            <p:cNvSpPr/>
            <p:nvPr/>
          </p:nvSpPr>
          <p:spPr>
            <a:xfrm>
              <a:off x="851229" y="1621088"/>
              <a:ext cx="2877743" cy="7643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No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podrá contratar directa o indirectamente al personal de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PERIFERIA IT GROUP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para la realización de alguna labor relacionada, por un término no menor de dos (2) años después de la terminación del proyecto</a:t>
              </a:r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EFE947B2-6C19-B904-5921-0234E71BF118}"/>
                </a:ext>
              </a:extLst>
            </p:cNvPr>
            <p:cNvSpPr/>
            <p:nvPr/>
          </p:nvSpPr>
          <p:spPr>
            <a:xfrm>
              <a:off x="774555" y="1621089"/>
              <a:ext cx="71740" cy="764336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351D1625-7F02-4D7E-7378-A6647BFFADD4}"/>
              </a:ext>
            </a:extLst>
          </p:cNvPr>
          <p:cNvGrpSpPr/>
          <p:nvPr/>
        </p:nvGrpSpPr>
        <p:grpSpPr>
          <a:xfrm>
            <a:off x="5137113" y="4102422"/>
            <a:ext cx="2954417" cy="664986"/>
            <a:chOff x="774555" y="1621088"/>
            <a:chExt cx="2954417" cy="664986"/>
          </a:xfrm>
        </p:grpSpPr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5448D2A5-2218-2BED-36F6-6CC3856E2A34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Será responsable de informar oficialmente a través de la Gerencia del Proyecto, los cambios o ajustes a implementar.</a:t>
              </a:r>
            </a:p>
          </p:txBody>
        </p: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3D93D117-1C1D-FFE8-6F34-C73DD641357A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B5FCCCB3-4F8E-EA02-EA96-80697B438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791" y="1953369"/>
            <a:ext cx="352557" cy="15578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9870C21-0E4F-6C85-DF6F-0C8904946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472" y="3268394"/>
            <a:ext cx="352557" cy="15578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48BE4E7-2561-AA48-B3CF-3594D1639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029" y="4389518"/>
            <a:ext cx="352557" cy="15578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A6B6413-E724-B2CB-A8BB-463516D30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640" y="1086617"/>
            <a:ext cx="1240691" cy="548212"/>
          </a:xfrm>
          <a:prstGeom prst="rect">
            <a:avLst/>
          </a:prstGeom>
        </p:spPr>
      </p:pic>
      <p:pic>
        <p:nvPicPr>
          <p:cNvPr id="4" name="Imagen 3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BF872DC4-8171-51B2-3BC6-871822F2C9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623" y="1121221"/>
            <a:ext cx="1370511" cy="495097"/>
          </a:xfrm>
          <a:prstGeom prst="rect">
            <a:avLst/>
          </a:prstGeom>
        </p:spPr>
      </p:pic>
      <p:pic>
        <p:nvPicPr>
          <p:cNvPr id="6" name="Imagen 5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413ACDEC-13EA-ADD7-E541-B33B73BA85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5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4D92A-EC14-3A58-2E27-69907DDC6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C3865DE4-1DEB-8163-86F3-158C46DB9D2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40645AC-7D69-B9F7-79A5-FD738571F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314" y="492237"/>
            <a:ext cx="3199301" cy="383183"/>
          </a:xfrm>
        </p:spPr>
        <p:txBody>
          <a:bodyPr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CO" sz="1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Metodología Ágil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26E790A-0B26-0580-BABA-CFC2A4D7841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99EC3E1B-C801-4EC0-2102-B6E8A06AB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715" y="3221974"/>
            <a:ext cx="1293086" cy="106923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4FE6955-77F7-BD1B-60B4-2F500C93C6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797" y="3221974"/>
            <a:ext cx="1388340" cy="106923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7345CB4-5FF2-EA52-90C7-4F1DC2B1EC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67" y="3221974"/>
            <a:ext cx="1390721" cy="106923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CE46AF2-BAAE-5D2D-B426-9046EEB7AF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122" y="2145218"/>
            <a:ext cx="1293086" cy="116211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F75479F-5666-7DBD-D823-CD8DDFFE52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603" y="2145218"/>
            <a:ext cx="1390721" cy="106923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240A8B2-534B-4749-2BAD-252FC36F20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604" y="2144656"/>
            <a:ext cx="1390721" cy="106923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C64F372-A059-CDCF-D89E-73707BF421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605" y="2144746"/>
            <a:ext cx="1390721" cy="106923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88A80F0-564A-4F3E-3D56-EDFC4CAC1CA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815" y="2142888"/>
            <a:ext cx="1390721" cy="106923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22CD5E1-9607-3FC1-AEB5-9F3DFDBB51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760" y="3348739"/>
            <a:ext cx="471512" cy="50246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A687E87-9495-07A8-FFD6-EE1CFCE3444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018" y="3435107"/>
            <a:ext cx="588199" cy="32148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04D7ABB-7692-6A8B-0CB7-87B238E78D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392" y="3393985"/>
            <a:ext cx="566767" cy="45722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03674D03-7931-3774-4955-5B634D09B83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131" y="2280407"/>
            <a:ext cx="552479" cy="58343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CB3DC3C6-B7F4-AEF8-2EB4-114675DDF16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106" y="2239792"/>
            <a:ext cx="616775" cy="64058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56CB99DD-112E-390F-1E65-222613F64DD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422" y="2297674"/>
            <a:ext cx="538190" cy="569148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CC10E765-0F8F-AA6E-0DA3-4DAAB886F0F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704" y="2278949"/>
            <a:ext cx="588199" cy="533428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656925A-8F80-6E06-9D68-3FF8D96E5C5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541" y="2243230"/>
            <a:ext cx="588199" cy="604868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917CD321-A047-A7B8-008E-68B876827DB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158" y="1067339"/>
            <a:ext cx="1295467" cy="116211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0C8B844-8BE2-23AE-1D88-ED988001985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253" y="1071794"/>
            <a:ext cx="1390721" cy="1069236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C50387F4-1B3E-11C5-17C9-2DF2F73A4FE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715" y="1067339"/>
            <a:ext cx="1388340" cy="1069236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4620A558-BB82-D617-9E78-CBCCAE230A3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797" y="1067339"/>
            <a:ext cx="1388340" cy="106923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9772B2C1-6FE7-3937-9153-0F2C3ACA824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67" y="1068463"/>
            <a:ext cx="1390721" cy="1069236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F21A2FE4-22CD-DFB0-AAA8-C7AD80872E8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041" y="1263483"/>
            <a:ext cx="447698" cy="473893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84487133-A236-4AFF-DFD3-DF476474524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098" y="1269062"/>
            <a:ext cx="433410" cy="500088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E81AE941-A287-17A3-917E-93ECE5A16B8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648" y="1239994"/>
            <a:ext cx="578674" cy="471512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CB3FCC1C-E18E-FA64-7DB7-E674ED38470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067" y="1258720"/>
            <a:ext cx="488181" cy="478656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5B352378-5EDB-C0C4-7EAB-C743313D118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710" y="1239994"/>
            <a:ext cx="466749" cy="454842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D549D440-15C6-A35F-4623-1484ECB8AB47}"/>
              </a:ext>
            </a:extLst>
          </p:cNvPr>
          <p:cNvSpPr txBox="1"/>
          <p:nvPr/>
        </p:nvSpPr>
        <p:spPr>
          <a:xfrm>
            <a:off x="2374708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DEFINICIÓN DE LA</a:t>
            </a:r>
            <a:br>
              <a:rPr lang="es-CO" sz="675"/>
            </a:br>
            <a:r>
              <a:rPr lang="es-CO" sz="675"/>
              <a:t>VISIÓN DEL PROYECTO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9F9514D-1B33-7D28-05AE-98F52E72EE5E}"/>
              </a:ext>
            </a:extLst>
          </p:cNvPr>
          <p:cNvSpPr txBox="1"/>
          <p:nvPr/>
        </p:nvSpPr>
        <p:spPr>
          <a:xfrm>
            <a:off x="3689757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CONFIRMACIÓN</a:t>
            </a:r>
            <a:br>
              <a:rPr lang="es-CO" sz="675"/>
            </a:br>
            <a:r>
              <a:rPr lang="es-CO" sz="675"/>
              <a:t>EQUIPO SCRUM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528DF85-6817-D5C0-DF75-E02A5B220CBE}"/>
              </a:ext>
            </a:extLst>
          </p:cNvPr>
          <p:cNvSpPr txBox="1"/>
          <p:nvPr/>
        </p:nvSpPr>
        <p:spPr>
          <a:xfrm>
            <a:off x="4975590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CONSTRUCCIÓN DE</a:t>
            </a:r>
          </a:p>
          <a:p>
            <a:pPr algn="ctr"/>
            <a:r>
              <a:rPr lang="es-CO" sz="675"/>
              <a:t>PRODUCT BACKLOG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FF5D0A8-A321-9B35-3B81-B6BCAF507D51}"/>
              </a:ext>
            </a:extLst>
          </p:cNvPr>
          <p:cNvSpPr txBox="1"/>
          <p:nvPr/>
        </p:nvSpPr>
        <p:spPr>
          <a:xfrm>
            <a:off x="6274197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PRIORIZACIÓN DE</a:t>
            </a:r>
          </a:p>
          <a:p>
            <a:pPr algn="ctr"/>
            <a:r>
              <a:rPr lang="es-CO" sz="675">
                <a:solidFill>
                  <a:schemeClr val="bg1"/>
                </a:solidFill>
              </a:rPr>
              <a:t>PRODUCT BACKLOG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A2EAAA7-C7A3-D99A-FCD5-43821679B9E5}"/>
              </a:ext>
            </a:extLst>
          </p:cNvPr>
          <p:cNvSpPr txBox="1"/>
          <p:nvPr/>
        </p:nvSpPr>
        <p:spPr>
          <a:xfrm>
            <a:off x="7517355" y="1778715"/>
            <a:ext cx="1254919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DEFINICIÓN DE ARQUITECTURA DE PRODUCTO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D9684C6-69DD-14BB-EE94-33379A904CE3}"/>
              </a:ext>
            </a:extLst>
          </p:cNvPr>
          <p:cNvSpPr txBox="1"/>
          <p:nvPr/>
        </p:nvSpPr>
        <p:spPr>
          <a:xfrm>
            <a:off x="2372251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RETROSPECTIVA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65F1722-E686-892A-9B14-0C3AE8CDBE72}"/>
              </a:ext>
            </a:extLst>
          </p:cNvPr>
          <p:cNvSpPr txBox="1"/>
          <p:nvPr/>
        </p:nvSpPr>
        <p:spPr>
          <a:xfrm>
            <a:off x="3687300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REVISIÓN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5C5A06E-AC18-6AF1-189D-12731A704A5A}"/>
              </a:ext>
            </a:extLst>
          </p:cNvPr>
          <p:cNvSpPr txBox="1"/>
          <p:nvPr/>
        </p:nvSpPr>
        <p:spPr>
          <a:xfrm>
            <a:off x="4973133" y="2877830"/>
            <a:ext cx="118763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SPRINT Y DAILY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0579C2-303C-EC48-8CA1-7A2473157276}"/>
              </a:ext>
            </a:extLst>
          </p:cNvPr>
          <p:cNvSpPr txBox="1"/>
          <p:nvPr/>
        </p:nvSpPr>
        <p:spPr>
          <a:xfrm>
            <a:off x="6271740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PLANEACIÓN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AAC3731-7E1B-AC2D-24B6-1F38E0C7997A}"/>
              </a:ext>
            </a:extLst>
          </p:cNvPr>
          <p:cNvSpPr txBox="1"/>
          <p:nvPr/>
        </p:nvSpPr>
        <p:spPr>
          <a:xfrm>
            <a:off x="7514898" y="2877830"/>
            <a:ext cx="125491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PRIORIZACIÓN DE</a:t>
            </a:r>
          </a:p>
          <a:p>
            <a:pPr algn="ctr"/>
            <a:r>
              <a:rPr lang="es-CO" sz="675"/>
              <a:t>HISTORIAS DE USUARIO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6191332-61C3-5218-3053-CF8CA0737248}"/>
              </a:ext>
            </a:extLst>
          </p:cNvPr>
          <p:cNvSpPr txBox="1"/>
          <p:nvPr/>
        </p:nvSpPr>
        <p:spPr>
          <a:xfrm>
            <a:off x="2338784" y="3918352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ENVÍO DE ENTREGABLES</a:t>
            </a:r>
            <a:br>
              <a:rPr lang="es-CO" sz="675">
                <a:solidFill>
                  <a:schemeClr val="bg1"/>
                </a:solidFill>
              </a:rPr>
            </a:br>
            <a:r>
              <a:rPr lang="es-CO" sz="675">
                <a:solidFill>
                  <a:schemeClr val="bg1"/>
                </a:solidFill>
              </a:rPr>
              <a:t>AL CLIENTE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592D90F-4060-CD00-000B-31AA96C80D8E}"/>
              </a:ext>
            </a:extLst>
          </p:cNvPr>
          <p:cNvSpPr txBox="1"/>
          <p:nvPr/>
        </p:nvSpPr>
        <p:spPr>
          <a:xfrm>
            <a:off x="3653833" y="3918352"/>
            <a:ext cx="118763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CIERRE DEL PROYECTO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5806423-CF2C-B329-F184-B0E00BC6A590}"/>
              </a:ext>
            </a:extLst>
          </p:cNvPr>
          <p:cNvSpPr txBox="1"/>
          <p:nvPr/>
        </p:nvSpPr>
        <p:spPr>
          <a:xfrm>
            <a:off x="4939666" y="3918352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RETROSPECTIVA</a:t>
            </a:r>
          </a:p>
          <a:p>
            <a:pPr algn="ctr"/>
            <a:r>
              <a:rPr lang="es-CO" sz="675">
                <a:solidFill>
                  <a:schemeClr val="bg1"/>
                </a:solidFill>
              </a:rPr>
              <a:t>DEL PROYECTO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D89B3DA-42EB-89E1-66FD-C23AF2C5C541}"/>
              </a:ext>
            </a:extLst>
          </p:cNvPr>
          <p:cNvSpPr txBox="1"/>
          <p:nvPr/>
        </p:nvSpPr>
        <p:spPr>
          <a:xfrm>
            <a:off x="2320123" y="758543"/>
            <a:ext cx="209457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 b="1">
                <a:solidFill>
                  <a:srgbClr val="333333"/>
                </a:solidFill>
              </a:rPr>
              <a:t>CÓMO LO REALIZAMOS…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88A5AA5A-10A1-48F7-FFD8-09B23D23B5B1}"/>
              </a:ext>
            </a:extLst>
          </p:cNvPr>
          <p:cNvSpPr txBox="1"/>
          <p:nvPr/>
        </p:nvSpPr>
        <p:spPr>
          <a:xfrm>
            <a:off x="6272164" y="3318850"/>
            <a:ext cx="2518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900">
                <a:solidFill>
                  <a:srgbClr val="333333"/>
                </a:solidFill>
              </a:rPr>
              <a:t>Nuestro modelo permite alcanzar resultados eficientes y evolutivos en intervalos cortos de tiempo, orientados a la necesidad del negocio y expectativa de nuestro cliente.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6E42D0E-E159-521E-2779-54AB102CB37A}"/>
              </a:ext>
            </a:extLst>
          </p:cNvPr>
          <p:cNvSpPr txBox="1"/>
          <p:nvPr/>
        </p:nvSpPr>
        <p:spPr>
          <a:xfrm>
            <a:off x="304245" y="803790"/>
            <a:ext cx="189805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13" b="1">
                <a:solidFill>
                  <a:srgbClr val="333333"/>
                </a:solidFill>
              </a:rPr>
              <a:t>LOS PROTAGONISTAS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50DFF4B2-BD6F-0D4A-9FDB-263DD146EF52}"/>
              </a:ext>
            </a:extLst>
          </p:cNvPr>
          <p:cNvSpPr/>
          <p:nvPr/>
        </p:nvSpPr>
        <p:spPr>
          <a:xfrm>
            <a:off x="444432" y="1165715"/>
            <a:ext cx="1571533" cy="1111100"/>
          </a:xfrm>
          <a:prstGeom prst="rect">
            <a:avLst/>
          </a:prstGeom>
          <a:gradFill flip="none" rotWithShape="1">
            <a:gsLst>
              <a:gs pos="0">
                <a:srgbClr val="0E8B27"/>
              </a:gs>
              <a:gs pos="100000">
                <a:srgbClr val="09B66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02C11773-1009-57E6-BB8B-750F4B1EB20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71" y="1237846"/>
            <a:ext cx="733463" cy="966837"/>
          </a:xfrm>
          <a:prstGeom prst="rect">
            <a:avLst/>
          </a:prstGeom>
        </p:spPr>
      </p:pic>
      <p:sp>
        <p:nvSpPr>
          <p:cNvPr id="54" name="Rectángulo 53">
            <a:extLst>
              <a:ext uri="{FF2B5EF4-FFF2-40B4-BE49-F238E27FC236}">
                <a16:creationId xmlns:a16="http://schemas.microsoft.com/office/drawing/2014/main" id="{631A52B9-ABF2-95A0-62D1-D7B1D8681096}"/>
              </a:ext>
            </a:extLst>
          </p:cNvPr>
          <p:cNvSpPr/>
          <p:nvPr/>
        </p:nvSpPr>
        <p:spPr>
          <a:xfrm>
            <a:off x="448242" y="1990721"/>
            <a:ext cx="1560029" cy="276999"/>
          </a:xfrm>
          <a:prstGeom prst="rect">
            <a:avLst/>
          </a:prstGeom>
          <a:solidFill>
            <a:srgbClr val="689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C18E4A3-896E-51E3-E634-7AF437BFFCF2}"/>
              </a:ext>
            </a:extLst>
          </p:cNvPr>
          <p:cNvSpPr txBox="1"/>
          <p:nvPr/>
        </p:nvSpPr>
        <p:spPr>
          <a:xfrm>
            <a:off x="638285" y="2013804"/>
            <a:ext cx="11876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Scrum Máster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FFA7F464-0333-1A67-FDDE-FDD70148F0FC}"/>
              </a:ext>
            </a:extLst>
          </p:cNvPr>
          <p:cNvSpPr/>
          <p:nvPr/>
        </p:nvSpPr>
        <p:spPr>
          <a:xfrm>
            <a:off x="410682" y="2466481"/>
            <a:ext cx="1623662" cy="997606"/>
          </a:xfrm>
          <a:prstGeom prst="roundRect">
            <a:avLst/>
          </a:prstGeom>
          <a:noFill/>
          <a:ln>
            <a:solidFill>
              <a:srgbClr val="1820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1A932EAD-1353-EE88-3871-C6F15D0F5776}"/>
              </a:ext>
            </a:extLst>
          </p:cNvPr>
          <p:cNvSpPr/>
          <p:nvPr/>
        </p:nvSpPr>
        <p:spPr>
          <a:xfrm>
            <a:off x="409609" y="2466481"/>
            <a:ext cx="1623662" cy="2201715"/>
          </a:xfrm>
          <a:prstGeom prst="roundRect">
            <a:avLst>
              <a:gd name="adj" fmla="val 10747"/>
            </a:avLst>
          </a:prstGeom>
          <a:noFill/>
          <a:ln>
            <a:solidFill>
              <a:srgbClr val="1820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5479E32-F72E-16F2-8CC3-82598E4CDF8A}"/>
              </a:ext>
            </a:extLst>
          </p:cNvPr>
          <p:cNvSpPr txBox="1"/>
          <p:nvPr/>
        </p:nvSpPr>
        <p:spPr>
          <a:xfrm>
            <a:off x="948771" y="2374157"/>
            <a:ext cx="641572" cy="230832"/>
          </a:xfrm>
          <a:prstGeom prst="rect">
            <a:avLst/>
          </a:prstGeom>
          <a:solidFill>
            <a:srgbClr val="EBEBEB"/>
          </a:solidFill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900" b="1">
                <a:solidFill>
                  <a:srgbClr val="182077"/>
                </a:solidFill>
              </a:rPr>
              <a:t>CLIENTE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C7733D1A-A31E-651D-FA3F-A4AC88E75EC2}"/>
              </a:ext>
            </a:extLst>
          </p:cNvPr>
          <p:cNvSpPr/>
          <p:nvPr/>
        </p:nvSpPr>
        <p:spPr>
          <a:xfrm>
            <a:off x="493351" y="2605214"/>
            <a:ext cx="1473581" cy="824743"/>
          </a:xfrm>
          <a:prstGeom prst="rect">
            <a:avLst/>
          </a:prstGeom>
          <a:solidFill>
            <a:srgbClr val="BEE4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8208D8EF-FE7B-4841-8C9C-66FE8BF603D0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74" y="2747697"/>
            <a:ext cx="812048" cy="769184"/>
          </a:xfrm>
          <a:prstGeom prst="rect">
            <a:avLst/>
          </a:prstGeom>
        </p:spPr>
      </p:pic>
      <p:sp>
        <p:nvSpPr>
          <p:cNvPr id="61" name="Rectángulo 60">
            <a:extLst>
              <a:ext uri="{FF2B5EF4-FFF2-40B4-BE49-F238E27FC236}">
                <a16:creationId xmlns:a16="http://schemas.microsoft.com/office/drawing/2014/main" id="{D36FA257-ED11-5851-E157-1C6554EB5C10}"/>
              </a:ext>
            </a:extLst>
          </p:cNvPr>
          <p:cNvSpPr/>
          <p:nvPr/>
        </p:nvSpPr>
        <p:spPr>
          <a:xfrm>
            <a:off x="497161" y="3381049"/>
            <a:ext cx="1462793" cy="217868"/>
          </a:xfrm>
          <a:prstGeom prst="rect">
            <a:avLst/>
          </a:prstGeom>
          <a:solidFill>
            <a:srgbClr val="1820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2194B27E-4D3E-CB04-2C8B-A69CE5BF86F5}"/>
              </a:ext>
            </a:extLst>
          </p:cNvPr>
          <p:cNvSpPr txBox="1"/>
          <p:nvPr/>
        </p:nvSpPr>
        <p:spPr>
          <a:xfrm>
            <a:off x="687205" y="3382361"/>
            <a:ext cx="1113614" cy="23083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Product Owner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4821CF90-65B7-E456-E402-3A84ADB40F64}"/>
              </a:ext>
            </a:extLst>
          </p:cNvPr>
          <p:cNvSpPr/>
          <p:nvPr/>
        </p:nvSpPr>
        <p:spPr>
          <a:xfrm>
            <a:off x="486373" y="3765960"/>
            <a:ext cx="1473581" cy="796847"/>
          </a:xfrm>
          <a:prstGeom prst="rect">
            <a:avLst/>
          </a:prstGeom>
          <a:solidFill>
            <a:srgbClr val="BEE4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0E687133-90BF-1C2A-C270-9C764FFA26BA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04" y="3837111"/>
            <a:ext cx="897778" cy="857294"/>
          </a:xfrm>
          <a:prstGeom prst="rect">
            <a:avLst/>
          </a:prstGeom>
        </p:spPr>
      </p:pic>
      <p:sp>
        <p:nvSpPr>
          <p:cNvPr id="65" name="Rectángulo 64">
            <a:extLst>
              <a:ext uri="{FF2B5EF4-FFF2-40B4-BE49-F238E27FC236}">
                <a16:creationId xmlns:a16="http://schemas.microsoft.com/office/drawing/2014/main" id="{DECD4815-107D-FD7F-C32A-A797AEE44E46}"/>
              </a:ext>
            </a:extLst>
          </p:cNvPr>
          <p:cNvSpPr/>
          <p:nvPr/>
        </p:nvSpPr>
        <p:spPr>
          <a:xfrm>
            <a:off x="490183" y="4513899"/>
            <a:ext cx="1462793" cy="217868"/>
          </a:xfrm>
          <a:prstGeom prst="rect">
            <a:avLst/>
          </a:prstGeom>
          <a:solidFill>
            <a:srgbClr val="1820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1AD9B644-0068-47FF-9107-56CB40D98044}"/>
              </a:ext>
            </a:extLst>
          </p:cNvPr>
          <p:cNvSpPr txBox="1"/>
          <p:nvPr/>
        </p:nvSpPr>
        <p:spPr>
          <a:xfrm>
            <a:off x="680227" y="4515212"/>
            <a:ext cx="1113614" cy="23083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Stakeholders</a:t>
            </a:r>
          </a:p>
        </p:txBody>
      </p:sp>
      <p:sp>
        <p:nvSpPr>
          <p:cNvPr id="67" name="Redondear rectángulo de esquina diagonal 14">
            <a:extLst>
              <a:ext uri="{FF2B5EF4-FFF2-40B4-BE49-F238E27FC236}">
                <a16:creationId xmlns:a16="http://schemas.microsoft.com/office/drawing/2014/main" id="{7DCC8C0C-D75A-79FB-A6F9-49E6BA7E1B23}"/>
              </a:ext>
            </a:extLst>
          </p:cNvPr>
          <p:cNvSpPr/>
          <p:nvPr/>
        </p:nvSpPr>
        <p:spPr>
          <a:xfrm>
            <a:off x="2212962" y="4331747"/>
            <a:ext cx="6879431" cy="701219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04000" tIns="0" rIns="0" bIns="0" rtlCol="0" anchor="ctr"/>
          <a:lstStyle/>
          <a:p>
            <a:r>
              <a:rPr lang="es-ES" sz="1050" i="1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La metodología de trabajo manejada será un esquema flexible debido a que durante la ejecución del proyecto el usuario final puede requerir incorporar alguna funcionalidad no detallada por parte de </a:t>
            </a:r>
            <a:r>
              <a:rPr lang="es-ES" sz="1050" i="1" dirty="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                     </a:t>
            </a:r>
            <a:r>
              <a:rPr lang="es-ES" sz="1050" i="1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68" name="Imagen 67">
            <a:extLst>
              <a:ext uri="{FF2B5EF4-FFF2-40B4-BE49-F238E27FC236}">
                <a16:creationId xmlns:a16="http://schemas.microsoft.com/office/drawing/2014/main" id="{498C5701-C519-48F1-1E10-A9EEB8B4F4DC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334401" y="4520637"/>
            <a:ext cx="323437" cy="323437"/>
          </a:xfrm>
          <a:prstGeom prst="rect">
            <a:avLst/>
          </a:prstGeom>
        </p:spPr>
      </p:pic>
      <p:pic>
        <p:nvPicPr>
          <p:cNvPr id="69" name="Gráfico 68">
            <a:extLst>
              <a:ext uri="{FF2B5EF4-FFF2-40B4-BE49-F238E27FC236}">
                <a16:creationId xmlns:a16="http://schemas.microsoft.com/office/drawing/2014/main" id="{5D6DF6CA-03D8-787B-7B70-581709AE3D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287114" y="1566219"/>
            <a:ext cx="628329" cy="15411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58D5831-88BC-1930-1C50-1FE621E29407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572683" y="4653200"/>
            <a:ext cx="411715" cy="181921"/>
          </a:xfrm>
          <a:prstGeom prst="rect">
            <a:avLst/>
          </a:prstGeom>
        </p:spPr>
      </p:pic>
      <p:pic>
        <p:nvPicPr>
          <p:cNvPr id="51" name="Imagen 50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F91BB784-9338-9A2B-ADA0-64CD95F56FC3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BEBA8EAE-BF5A-486C-A8C5-ECC9F3942E4B}">
                <a14:imgProps xmlns:a14="http://schemas.microsoft.com/office/drawing/2010/main">
                  <a14:imgLayer r:embed="rId3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42" y="183626"/>
            <a:ext cx="691923" cy="24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43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2381"/>
            <a:ext cx="9143999" cy="5232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46" y="1081961"/>
            <a:ext cx="2523449" cy="2112035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1639393" y="253708"/>
            <a:ext cx="7286558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5869" y="689580"/>
            <a:ext cx="4572000" cy="77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60391" y="3086163"/>
            <a:ext cx="6696254" cy="79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79194" y="2266713"/>
            <a:ext cx="5941443" cy="82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6580" y="1469764"/>
            <a:ext cx="5197415" cy="796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812439" y="3885363"/>
            <a:ext cx="7397150" cy="805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462803" y="921540"/>
            <a:ext cx="1333499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 / Technical Leader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492237" y="1688259"/>
            <a:ext cx="20319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473386" y="2499303"/>
            <a:ext cx="23177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473387" y="3318722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  <a:endParaRPr lang="es-CO" sz="13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473387" y="3965457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6377330" y="4194413"/>
            <a:ext cx="2158999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lang="en-US" sz="825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1630381" y="4260657"/>
            <a:ext cx="2127250" cy="196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825">
                <a:solidFill>
                  <a:schemeClr val="bg1"/>
                </a:solidFill>
              </a:rPr>
              <a:t>experenciadecliente</a:t>
            </a:r>
            <a:r>
              <a:rPr lang="en-U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6557246" y="2056708"/>
            <a:ext cx="17991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Cargo</a:t>
            </a:r>
            <a:endParaRPr lang="en-US" sz="135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6557248" y="2391416"/>
            <a:ext cx="1799165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Nombre</a:t>
            </a:r>
            <a:endParaRPr lang="en-US"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6224172" y="261366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 err="1">
                <a:solidFill>
                  <a:srgbClr val="FFFFFF"/>
                </a:solidFill>
                <a:ea typeface="+mn-lt"/>
                <a:cs typeface="+mn-lt"/>
              </a:rPr>
              <a:t>xxxxxxxxxx@xxxxxxxxxxxxxxxxxx</a:t>
            </a:r>
            <a:endParaRPr lang="es-ES" sz="1350">
              <a:ea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6493747" y="2835915"/>
            <a:ext cx="192616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+57 </a:t>
            </a:r>
            <a:r>
              <a:rPr lang="en-US" sz="1050" err="1">
                <a:solidFill>
                  <a:srgbClr val="FFFFFF"/>
                </a:solidFill>
                <a:ea typeface="+mn-lt"/>
                <a:cs typeface="+mn-lt"/>
              </a:rPr>
              <a:t>xxxxxxxxx</a:t>
            </a:r>
            <a:endParaRPr lang="es-ES" sz="135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530FE51-B181-6445-3657-35EB5B966A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2216" y="1335622"/>
            <a:ext cx="589228" cy="589228"/>
          </a:xfrm>
          <a:prstGeom prst="rect">
            <a:avLst/>
          </a:prstGeom>
        </p:spPr>
      </p:pic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6328515" y="352013"/>
            <a:ext cx="2222110" cy="69931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100" b="1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lang="en-US" sz="2100" b="1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64" y="2383508"/>
            <a:ext cx="589228" cy="5880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364" y="3189941"/>
            <a:ext cx="589228" cy="5892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363" y="3993401"/>
            <a:ext cx="589228" cy="58922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91" y="3415459"/>
            <a:ext cx="2124478" cy="726751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5733988" y="4906480"/>
            <a:ext cx="1926165" cy="23083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n-US" sz="135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12" y="5021897"/>
            <a:ext cx="1612189" cy="30958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3430" y="803460"/>
            <a:ext cx="588095" cy="589228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025" y="1582948"/>
            <a:ext cx="589228" cy="58809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3F9BC0B-A811-71C3-3199-32A210023EF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06203" y="3469385"/>
            <a:ext cx="1251217" cy="5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961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F4CC0-F327-87C4-D30E-E96FD22CB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8D18779-30B3-9298-9B98-2282D4316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2974551" cy="5148262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D711B7C6-878F-2336-44B1-280794A9D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3" y="1840014"/>
            <a:ext cx="2128053" cy="1028396"/>
          </a:xfrm>
        </p:spPr>
        <p:txBody>
          <a:bodyPr>
            <a:normAutofit fontScale="90000"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highlight>
                  <a:srgbClr val="FFFF00"/>
                </a:highlight>
                <a:latin typeface="Arial Black" panose="020B0604020202020204" pitchFamily="34" charset="0"/>
                <a:cs typeface="Arial Black" panose="020B0604020202020204" pitchFamily="34" charset="0"/>
              </a:rPr>
              <a:t>Oferta Económica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46FAEC2C-8A39-3451-2DFE-123AE0E862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sp>
        <p:nvSpPr>
          <p:cNvPr id="2" name="Redondear rectángulo de esquina diagonal 14">
            <a:extLst>
              <a:ext uri="{FF2B5EF4-FFF2-40B4-BE49-F238E27FC236}">
                <a16:creationId xmlns:a16="http://schemas.microsoft.com/office/drawing/2014/main" id="{14D73C5F-8DCF-70C9-9AB0-C6C055B8CC1E}"/>
              </a:ext>
            </a:extLst>
          </p:cNvPr>
          <p:cNvSpPr/>
          <p:nvPr/>
        </p:nvSpPr>
        <p:spPr>
          <a:xfrm>
            <a:off x="2276408" y="4352148"/>
            <a:ext cx="4715610" cy="640340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76000" tIns="0" rIns="72000" bIns="0" rtlCol="0" anchor="ctr"/>
          <a:lstStyle/>
          <a:p>
            <a:r>
              <a:rPr lang="es-ES" sz="1050" i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s-ES" sz="1050" i="1" err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Xxxxxxx</a:t>
            </a:r>
            <a:r>
              <a:rPr lang="es-ES" sz="1050" i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050" i="1" err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xxxxxxx</a:t>
            </a:r>
            <a:r>
              <a:rPr lang="es-ES" sz="1050" i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050" i="1" err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xxxxxxxxxxxx</a:t>
            </a:r>
            <a:r>
              <a:rPr lang="es-ES" sz="1050" i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050" i="1" err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xxxxxxxxxxx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53FA23-FA74-0871-41D1-5DDC3A7EC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2654" y="4510599"/>
            <a:ext cx="323437" cy="323437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1F55B43-D5EC-CBE7-C74A-B6F584E19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315096"/>
              </p:ext>
            </p:extLst>
          </p:nvPr>
        </p:nvGraphicFramePr>
        <p:xfrm>
          <a:off x="2958839" y="1652792"/>
          <a:ext cx="5753100" cy="203971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86856">
                  <a:extLst>
                    <a:ext uri="{9D8B030D-6E8A-4147-A177-3AD203B41FA5}">
                      <a16:colId xmlns:a16="http://schemas.microsoft.com/office/drawing/2014/main" val="755978740"/>
                    </a:ext>
                  </a:extLst>
                </a:gridCol>
                <a:gridCol w="841829">
                  <a:extLst>
                    <a:ext uri="{9D8B030D-6E8A-4147-A177-3AD203B41FA5}">
                      <a16:colId xmlns:a16="http://schemas.microsoft.com/office/drawing/2014/main" val="2439954493"/>
                    </a:ext>
                  </a:extLst>
                </a:gridCol>
                <a:gridCol w="885371">
                  <a:extLst>
                    <a:ext uri="{9D8B030D-6E8A-4147-A177-3AD203B41FA5}">
                      <a16:colId xmlns:a16="http://schemas.microsoft.com/office/drawing/2014/main" val="3656290198"/>
                    </a:ext>
                  </a:extLst>
                </a:gridCol>
                <a:gridCol w="972457">
                  <a:extLst>
                    <a:ext uri="{9D8B030D-6E8A-4147-A177-3AD203B41FA5}">
                      <a16:colId xmlns:a16="http://schemas.microsoft.com/office/drawing/2014/main" val="1137005257"/>
                    </a:ext>
                  </a:extLst>
                </a:gridCol>
                <a:gridCol w="1166587">
                  <a:extLst>
                    <a:ext uri="{9D8B030D-6E8A-4147-A177-3AD203B41FA5}">
                      <a16:colId xmlns:a16="http://schemas.microsoft.com/office/drawing/2014/main" val="560952452"/>
                    </a:ext>
                  </a:extLst>
                </a:gridCol>
              </a:tblGrid>
              <a:tr h="339953">
                <a:tc>
                  <a:txBody>
                    <a:bodyPr/>
                    <a:lstStyle/>
                    <a:p>
                      <a:pPr algn="ctr"/>
                      <a:r>
                        <a:rPr lang="es-CO" sz="1000">
                          <a:solidFill>
                            <a:srgbClr val="333333"/>
                          </a:solidFill>
                          <a:latin typeface="+mn-lt"/>
                        </a:rPr>
                        <a:t>Perfil 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b="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b="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197989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>
                          <a:solidFill>
                            <a:srgbClr val="333333"/>
                          </a:solidFill>
                          <a:latin typeface="+mn-lt"/>
                        </a:rPr>
                        <a:t>Perfil 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687934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>
                          <a:solidFill>
                            <a:srgbClr val="333333"/>
                          </a:solidFill>
                          <a:latin typeface="+mn-lt"/>
                        </a:rPr>
                        <a:t>Perfil 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097860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>
                          <a:solidFill>
                            <a:srgbClr val="333333"/>
                          </a:solidFill>
                          <a:latin typeface="+mn-lt"/>
                        </a:rPr>
                        <a:t>Perfil 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407944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algn="ctr"/>
                      <a:r>
                        <a:rPr lang="es-CO" sz="1000" b="1">
                          <a:solidFill>
                            <a:srgbClr val="333333"/>
                          </a:solidFill>
                          <a:latin typeface="+mn-lt"/>
                        </a:rPr>
                        <a:t>Perfil 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099601"/>
                  </a:ext>
                </a:extLst>
              </a:tr>
              <a:tr h="339953">
                <a:tc gridSpan="2">
                  <a:txBody>
                    <a:bodyPr/>
                    <a:lstStyle/>
                    <a:p>
                      <a:pPr algn="ctr"/>
                      <a:r>
                        <a:rPr lang="es-ES" sz="1000" b="1">
                          <a:solidFill>
                            <a:srgbClr val="333333"/>
                          </a:solidFill>
                          <a:latin typeface="+mn-lt"/>
                        </a:rPr>
                        <a:t>Total</a:t>
                      </a:r>
                      <a:endParaRPr lang="es-CO" sz="1000" b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000" b="1">
                        <a:solidFill>
                          <a:srgbClr val="333333"/>
                        </a:solidFill>
                        <a:latin typeface="Avenir Book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1" err="1">
                          <a:solidFill>
                            <a:srgbClr val="333333"/>
                          </a:solidFill>
                          <a:latin typeface="+mn-lt"/>
                        </a:rPr>
                        <a:t>xxx</a:t>
                      </a:r>
                      <a:endParaRPr lang="es-CO" sz="1000" b="1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17497"/>
                  </a:ext>
                </a:extLst>
              </a:tr>
            </a:tbl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A81D4AD-AB02-4560-5EF0-D22FBCD0EF26}"/>
              </a:ext>
            </a:extLst>
          </p:cNvPr>
          <p:cNvSpPr/>
          <p:nvPr/>
        </p:nvSpPr>
        <p:spPr>
          <a:xfrm>
            <a:off x="2958838" y="1261153"/>
            <a:ext cx="1867217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Perfiles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11FDB9B-ED05-9660-0652-987327A2984B}"/>
              </a:ext>
            </a:extLst>
          </p:cNvPr>
          <p:cNvSpPr/>
          <p:nvPr/>
        </p:nvSpPr>
        <p:spPr>
          <a:xfrm>
            <a:off x="4840315" y="1261152"/>
            <a:ext cx="84902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Cantidad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FD72852-DDC4-4631-2342-9D063FA5DCB3}"/>
              </a:ext>
            </a:extLst>
          </p:cNvPr>
          <p:cNvSpPr/>
          <p:nvPr/>
        </p:nvSpPr>
        <p:spPr>
          <a:xfrm>
            <a:off x="5714216" y="1261151"/>
            <a:ext cx="84902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Horas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5ACF0AD-7780-4C05-8F40-946E0AF3B533}"/>
              </a:ext>
            </a:extLst>
          </p:cNvPr>
          <p:cNvSpPr/>
          <p:nvPr/>
        </p:nvSpPr>
        <p:spPr>
          <a:xfrm>
            <a:off x="6577499" y="1257548"/>
            <a:ext cx="953339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Tarifa</a:t>
            </a:r>
            <a:endParaRPr lang="es-CO" sz="1200" b="1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4EE6D397-C1B7-38BC-70CB-59AC01267136}"/>
              </a:ext>
            </a:extLst>
          </p:cNvPr>
          <p:cNvSpPr/>
          <p:nvPr/>
        </p:nvSpPr>
        <p:spPr>
          <a:xfrm>
            <a:off x="7556135" y="1257547"/>
            <a:ext cx="115580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Valor</a:t>
            </a:r>
            <a:endParaRPr lang="es-CO" sz="1200" b="1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FBCDCF3D-45F4-CE4D-7172-6714684D6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05940" y="3703648"/>
            <a:ext cx="594748" cy="60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99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D6FB7-E27F-6683-FE60-2A9F5E298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, Rectángulo&#10;&#10;El contenido generado por IA puede ser incorrecto.">
            <a:extLst>
              <a:ext uri="{FF2B5EF4-FFF2-40B4-BE49-F238E27FC236}">
                <a16:creationId xmlns:a16="http://schemas.microsoft.com/office/drawing/2014/main" id="{5717C53C-7155-A79C-CA3A-DBB8C96A7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44000" cy="5148263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79F867E2-2F60-44B3-BFD6-793848FB4CBB}"/>
              </a:ext>
            </a:extLst>
          </p:cNvPr>
          <p:cNvSpPr>
            <a:spLocks noChangeAspect="1"/>
          </p:cNvSpPr>
          <p:nvPr/>
        </p:nvSpPr>
        <p:spPr>
          <a:xfrm>
            <a:off x="1116548" y="-881320"/>
            <a:ext cx="6910903" cy="6910903"/>
          </a:xfrm>
          <a:prstGeom prst="ellipse">
            <a:avLst/>
          </a:prstGeom>
          <a:solidFill>
            <a:srgbClr val="CDFF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8F23BE5C-BE5E-2D97-8D86-14311C0EBE8E}"/>
              </a:ext>
            </a:extLst>
          </p:cNvPr>
          <p:cNvSpPr txBox="1">
            <a:spLocks/>
          </p:cNvSpPr>
          <p:nvPr/>
        </p:nvSpPr>
        <p:spPr>
          <a:xfrm>
            <a:off x="2029427" y="3908715"/>
            <a:ext cx="5085146" cy="446507"/>
          </a:xfrm>
          <a:prstGeom prst="rect">
            <a:avLst/>
          </a:prstGeom>
        </p:spPr>
        <p:txBody>
          <a:bodyPr vert="horz" lIns="68521" tIns="34260" rIns="68521" bIns="3426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1199" i="1">
                <a:latin typeface="Calibri" panose="020F0502020204030204" pitchFamily="34" charset="0"/>
                <a:cs typeface="Calibri" panose="020F0502020204030204" pitchFamily="34" charset="0"/>
              </a:rPr>
              <a:t>Construyamos juntos </a:t>
            </a:r>
            <a:r>
              <a:rPr lang="es-CO" sz="1199" i="1">
                <a:solidFill>
                  <a:srgbClr val="145F1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mejor solución para tu equipo</a:t>
            </a:r>
            <a:r>
              <a:rPr lang="es-CO" sz="1199" i="1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D7FF1AA9-8729-5E89-5AC1-FB189DA89608}"/>
              </a:ext>
            </a:extLst>
          </p:cNvPr>
          <p:cNvSpPr txBox="1">
            <a:spLocks/>
          </p:cNvSpPr>
          <p:nvPr/>
        </p:nvSpPr>
        <p:spPr>
          <a:xfrm>
            <a:off x="1596738" y="147514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45F1C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¿Qué opinas de esta propuesta?</a:t>
            </a:r>
          </a:p>
        </p:txBody>
      </p:sp>
      <p:sp>
        <p:nvSpPr>
          <p:cNvPr id="11" name="Marcador de contenido 6">
            <a:extLst>
              <a:ext uri="{FF2B5EF4-FFF2-40B4-BE49-F238E27FC236}">
                <a16:creationId xmlns:a16="http://schemas.microsoft.com/office/drawing/2014/main" id="{A2B113FE-0B85-A011-23B5-F0FF6CB13F4D}"/>
              </a:ext>
            </a:extLst>
          </p:cNvPr>
          <p:cNvSpPr txBox="1">
            <a:spLocks/>
          </p:cNvSpPr>
          <p:nvPr/>
        </p:nvSpPr>
        <p:spPr>
          <a:xfrm>
            <a:off x="1596738" y="185117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140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Danos tu </a:t>
            </a:r>
            <a:r>
              <a:rPr lang="es-CO" sz="140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</a:t>
            </a:r>
            <a:r>
              <a:rPr lang="es-CO" sz="140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solo </a:t>
            </a:r>
            <a:r>
              <a:rPr lang="es-CO" sz="1400" b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segundos</a:t>
            </a:r>
            <a:endParaRPr lang="es-CO" sz="140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3171F0EE-BECA-CA40-3A9B-9842E999EC4D}"/>
              </a:ext>
            </a:extLst>
          </p:cNvPr>
          <p:cNvGrpSpPr>
            <a:grpSpLocks noChangeAspect="1"/>
          </p:cNvGrpSpPr>
          <p:nvPr/>
        </p:nvGrpSpPr>
        <p:grpSpPr>
          <a:xfrm>
            <a:off x="2986105" y="2657171"/>
            <a:ext cx="3172407" cy="751187"/>
            <a:chOff x="2827484" y="2673246"/>
            <a:chExt cx="3489648" cy="826306"/>
          </a:xfrm>
        </p:grpSpPr>
        <p:sp>
          <p:nvSpPr>
            <p:cNvPr id="13" name="Rectángulo redondeado 11">
              <a:hlinkClick r:id="rId4"/>
              <a:extLst>
                <a:ext uri="{FF2B5EF4-FFF2-40B4-BE49-F238E27FC236}">
                  <a16:creationId xmlns:a16="http://schemas.microsoft.com/office/drawing/2014/main" id="{A05813A6-60F6-6CB4-2C77-D2BF3FE4CE00}"/>
                </a:ext>
              </a:extLst>
            </p:cNvPr>
            <p:cNvSpPr/>
            <p:nvPr/>
          </p:nvSpPr>
          <p:spPr>
            <a:xfrm>
              <a:off x="2873671" y="2717840"/>
              <a:ext cx="3397275" cy="737118"/>
            </a:xfrm>
            <a:prstGeom prst="roundRect">
              <a:avLst>
                <a:gd name="adj" fmla="val 50000"/>
              </a:avLst>
            </a:prstGeom>
            <a:solidFill>
              <a:srgbClr val="6DFD8C"/>
            </a:solidFill>
            <a:ln>
              <a:noFill/>
            </a:ln>
            <a:effectLst>
              <a:outerShdw blurRad="226092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b="1">
                  <a:solidFill>
                    <a:srgbClr val="145F1C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ABRIR ENCUESTA</a:t>
              </a:r>
            </a:p>
          </p:txBody>
        </p:sp>
        <p:sp>
          <p:nvSpPr>
            <p:cNvPr id="14" name="Rectángulo redondeado 14">
              <a:hlinkClick r:id="rId5"/>
              <a:extLst>
                <a:ext uri="{FF2B5EF4-FFF2-40B4-BE49-F238E27FC236}">
                  <a16:creationId xmlns:a16="http://schemas.microsoft.com/office/drawing/2014/main" id="{13E4DD24-EFE3-EC35-923B-491F186F7852}"/>
                </a:ext>
              </a:extLst>
            </p:cNvPr>
            <p:cNvSpPr/>
            <p:nvPr/>
          </p:nvSpPr>
          <p:spPr>
            <a:xfrm>
              <a:off x="2827484" y="2673246"/>
              <a:ext cx="3489648" cy="826306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145F1C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2000" b="1">
                <a:solidFill>
                  <a:srgbClr val="145F1C"/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</p:grpSp>
      <p:pic>
        <p:nvPicPr>
          <p:cNvPr id="7" name="Imagen 6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B596C3C1-4D22-9B7D-E0CC-FEF66E27D2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653" y="248637"/>
            <a:ext cx="2278898" cy="82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858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C493F-D7CC-2010-D076-71901A27B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CB02D71-CF67-A80C-329A-1634BA5E0D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007" y="-11685"/>
            <a:ext cx="9194014" cy="5171633"/>
          </a:xfr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E70A45C5-54AB-9C8D-555D-47D35A535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109" y="178387"/>
            <a:ext cx="4757574" cy="46931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s-CO" sz="23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Forma de Pago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51D1A70-7BCF-1E1E-2675-919E2967D00F}"/>
              </a:ext>
            </a:extLst>
          </p:cNvPr>
          <p:cNvSpPr txBox="1"/>
          <p:nvPr/>
        </p:nvSpPr>
        <p:spPr>
          <a:xfrm>
            <a:off x="349556" y="1538724"/>
            <a:ext cx="2769538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200" dirty="0">
                <a:solidFill>
                  <a:srgbClr val="212121"/>
                </a:solidFill>
                <a:cs typeface="Arial"/>
              </a:rPr>
              <a:t>El pago se realizará conforme al siguiente plan de porcentajes, teniendo en cuenta que </a:t>
            </a:r>
            <a:r>
              <a:rPr lang="es-MX" sz="1200" dirty="0">
                <a:solidFill>
                  <a:schemeClr val="accent1"/>
                </a:solidFill>
                <a:cs typeface="Arial"/>
              </a:rPr>
              <a:t>                     </a:t>
            </a:r>
            <a:r>
              <a:rPr lang="es-MX" sz="1200" dirty="0">
                <a:solidFill>
                  <a:srgbClr val="212121"/>
                </a:solidFill>
                <a:cs typeface="Arial"/>
              </a:rPr>
              <a:t>pagará a los </a:t>
            </a:r>
            <a:r>
              <a:rPr lang="es-MX" sz="1200" dirty="0">
                <a:solidFill>
                  <a:srgbClr val="212121"/>
                </a:solidFill>
                <a:highlight>
                  <a:srgbClr val="FFFF00"/>
                </a:highlight>
                <a:cs typeface="Arial"/>
              </a:rPr>
              <a:t>XX</a:t>
            </a:r>
            <a:r>
              <a:rPr lang="es-MX" sz="1200" dirty="0">
                <a:solidFill>
                  <a:srgbClr val="212121"/>
                </a:solidFill>
                <a:cs typeface="Arial"/>
              </a:rPr>
              <a:t> días calendario una vez radicada la factura, como fecha máxima. 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0360F921-EE56-A2F8-E00B-4F9E8AB828B4}"/>
              </a:ext>
            </a:extLst>
          </p:cNvPr>
          <p:cNvGrpSpPr/>
          <p:nvPr/>
        </p:nvGrpSpPr>
        <p:grpSpPr>
          <a:xfrm>
            <a:off x="1213140" y="3771894"/>
            <a:ext cx="6717721" cy="779087"/>
            <a:chOff x="304799" y="3811171"/>
            <a:chExt cx="6717721" cy="779087"/>
          </a:xfrm>
        </p:grpSpPr>
        <p:sp>
          <p:nvSpPr>
            <p:cNvPr id="10" name="Redondear rectángulo de esquina diagonal 14">
              <a:extLst>
                <a:ext uri="{FF2B5EF4-FFF2-40B4-BE49-F238E27FC236}">
                  <a16:creationId xmlns:a16="http://schemas.microsoft.com/office/drawing/2014/main" id="{D2009179-364D-5075-BBBF-401C4314F4E5}"/>
                </a:ext>
              </a:extLst>
            </p:cNvPr>
            <p:cNvSpPr/>
            <p:nvPr/>
          </p:nvSpPr>
          <p:spPr>
            <a:xfrm>
              <a:off x="304799" y="3811171"/>
              <a:ext cx="6717721" cy="779087"/>
            </a:xfrm>
            <a:prstGeom prst="round2DiagRect">
              <a:avLst>
                <a:gd name="adj1" fmla="val 13848"/>
                <a:gd name="adj2" fmla="val 25414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190500" dist="38100" dir="8100000" algn="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576000" tIns="0" rIns="144000" bIns="0" rtlCol="0" anchor="ctr"/>
            <a:lstStyle/>
            <a:p>
              <a:r>
                <a:rPr lang="es-ES" sz="1050" i="1">
                  <a:solidFill>
                    <a:srgbClr val="333333"/>
                  </a:solidFill>
                  <a:highlight>
                    <a:srgbClr val="FFFF00"/>
                  </a:highlight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</a:t>
              </a:r>
            </a:p>
          </p:txBody>
        </p:sp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82ABFFD9-18D2-CA20-E9D9-34D7FAFDC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167" y="4038995"/>
              <a:ext cx="323437" cy="323437"/>
            </a:xfrm>
            <a:prstGeom prst="rect">
              <a:avLst/>
            </a:prstGeom>
          </p:spPr>
        </p:pic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69321204-E7B6-A25C-8EF9-A108FF9BB711}"/>
              </a:ext>
            </a:extLst>
          </p:cNvPr>
          <p:cNvGrpSpPr/>
          <p:nvPr/>
        </p:nvGrpSpPr>
        <p:grpSpPr>
          <a:xfrm>
            <a:off x="3903676" y="852836"/>
            <a:ext cx="1073513" cy="830997"/>
            <a:chOff x="3939239" y="3277262"/>
            <a:chExt cx="1073513" cy="830997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BCAF6D6-B37E-8B77-7C6F-3F8940B0313A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30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AD6452D6-6307-04B0-0BE9-7AFA685D1F72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E2FED24-1B6F-2BDD-F43C-56F4C4A4552A}"/>
              </a:ext>
            </a:extLst>
          </p:cNvPr>
          <p:cNvSpPr txBox="1"/>
          <p:nvPr/>
        </p:nvSpPr>
        <p:spPr>
          <a:xfrm>
            <a:off x="3392624" y="2938013"/>
            <a:ext cx="1967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>
                <a:solidFill>
                  <a:srgbClr val="333333"/>
                </a:solidFill>
                <a:latin typeface="Arial"/>
                <a:cs typeface="Arial"/>
              </a:rPr>
              <a:t>Con la firma del acta</a:t>
            </a:r>
          </a:p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>
                <a:solidFill>
                  <a:srgbClr val="333333"/>
                </a:solidFill>
                <a:latin typeface="Arial"/>
                <a:cs typeface="Arial"/>
              </a:rPr>
              <a:t>de inicio de proyecto.</a:t>
            </a:r>
            <a:endParaRPr lang="en-US" sz="1200" b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467DC1F-8318-32B5-9A25-36C79C184D7D}"/>
              </a:ext>
            </a:extLst>
          </p:cNvPr>
          <p:cNvSpPr txBox="1"/>
          <p:nvPr/>
        </p:nvSpPr>
        <p:spPr>
          <a:xfrm>
            <a:off x="5261117" y="2937014"/>
            <a:ext cx="17156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>
                <a:solidFill>
                  <a:srgbClr val="333333"/>
                </a:solidFill>
                <a:latin typeface="Arial"/>
                <a:cs typeface="Arial"/>
              </a:rPr>
              <a:t>Entrega de los desarrollos y pruebas de los </a:t>
            </a:r>
            <a:r>
              <a:rPr lang="es-ES" sz="1200" b="1" i="0" u="none" strike="noStrike" baseline="0" err="1">
                <a:solidFill>
                  <a:srgbClr val="333333"/>
                </a:solidFill>
                <a:latin typeface="Arial"/>
                <a:cs typeface="Arial"/>
              </a:rPr>
              <a:t>Sprints</a:t>
            </a:r>
            <a:r>
              <a:rPr lang="es-ES" sz="1200" b="1" i="0" u="none" strike="noStrike" baseline="0">
                <a:solidFill>
                  <a:srgbClr val="333333"/>
                </a:solidFill>
                <a:latin typeface="Arial"/>
                <a:cs typeface="Arial"/>
              </a:rPr>
              <a:t> definid</a:t>
            </a:r>
            <a:r>
              <a:rPr lang="es-ES" sz="1200" b="1">
                <a:solidFill>
                  <a:srgbClr val="333333"/>
                </a:solidFill>
                <a:latin typeface="Arial"/>
                <a:cs typeface="Arial"/>
              </a:rPr>
              <a:t>o</a:t>
            </a:r>
            <a:r>
              <a:rPr lang="es-ES" sz="1200" b="1" i="0" u="none" strike="noStrike" baseline="0">
                <a:solidFill>
                  <a:srgbClr val="333333"/>
                </a:solidFill>
                <a:latin typeface="Arial"/>
                <a:cs typeface="Arial"/>
              </a:rPr>
              <a:t>s.</a:t>
            </a:r>
            <a:endParaRPr lang="en-US" sz="1200" b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D293F46-064E-AB96-6A9A-3598AD9026BB}"/>
              </a:ext>
            </a:extLst>
          </p:cNvPr>
          <p:cNvSpPr txBox="1"/>
          <p:nvPr/>
        </p:nvSpPr>
        <p:spPr>
          <a:xfrm>
            <a:off x="6978474" y="2975248"/>
            <a:ext cx="1586375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CO" sz="1200" b="1" dirty="0">
                <a:solidFill>
                  <a:srgbClr val="333333"/>
                </a:solidFill>
                <a:latin typeface="Arial"/>
                <a:cs typeface="Arial"/>
              </a:rPr>
              <a:t>Ajustar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88477529-E52F-2992-D429-C9AFDE196B2B}"/>
              </a:ext>
            </a:extLst>
          </p:cNvPr>
          <p:cNvGrpSpPr/>
          <p:nvPr/>
        </p:nvGrpSpPr>
        <p:grpSpPr>
          <a:xfrm>
            <a:off x="5610526" y="852836"/>
            <a:ext cx="1073513" cy="830997"/>
            <a:chOff x="3939239" y="3277262"/>
            <a:chExt cx="1073513" cy="830997"/>
          </a:xfrm>
        </p:grpSpPr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042B3034-D2C3-BB35-E488-2C76663420ED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50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93B7E8EC-A76C-894C-C22A-0276B506A5FC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3D32D12-A8A1-8FBE-41A1-C4D4E7463DD1}"/>
              </a:ext>
            </a:extLst>
          </p:cNvPr>
          <p:cNvGrpSpPr/>
          <p:nvPr/>
        </p:nvGrpSpPr>
        <p:grpSpPr>
          <a:xfrm>
            <a:off x="7317132" y="852836"/>
            <a:ext cx="1073513" cy="830997"/>
            <a:chOff x="3939239" y="3277262"/>
            <a:chExt cx="1073513" cy="830997"/>
          </a:xfrm>
        </p:grpSpPr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3C720CEC-350E-D3A2-122C-7980C101E6C6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20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2F9110B5-0EFD-A6CB-DBC1-83C6845270E7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pic>
        <p:nvPicPr>
          <p:cNvPr id="24" name="Imagen 23">
            <a:extLst>
              <a:ext uri="{FF2B5EF4-FFF2-40B4-BE49-F238E27FC236}">
                <a16:creationId xmlns:a16="http://schemas.microsoft.com/office/drawing/2014/main" id="{6F03DB48-774A-A74F-1DBA-C041AAAA2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353" y="2297242"/>
            <a:ext cx="790616" cy="466749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540BE95-7D8A-2BD3-DA91-118AE4A7E6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3637" y="1861012"/>
            <a:ext cx="790616" cy="908097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9DB02220-CA51-73C7-EB2B-5600B0E6DA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1194" y="2151185"/>
            <a:ext cx="790616" cy="612806"/>
          </a:xfrm>
          <a:prstGeom prst="rect">
            <a:avLst/>
          </a:prstGeom>
        </p:spPr>
      </p:pic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0078217C-9BDE-7447-A28B-32617CD1E73B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4376502" y="1678148"/>
            <a:ext cx="546" cy="473037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B6EBB11B-753E-9DDA-46C3-7ED0CC155CCF}"/>
              </a:ext>
            </a:extLst>
          </p:cNvPr>
          <p:cNvCxnSpPr>
            <a:cxnSpLocks/>
          </p:cNvCxnSpPr>
          <p:nvPr/>
        </p:nvCxnSpPr>
        <p:spPr>
          <a:xfrm>
            <a:off x="6118945" y="1678148"/>
            <a:ext cx="0" cy="182864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E1C8BFDB-5A70-FDC6-4321-9539E0A1F787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7771661" y="1678148"/>
            <a:ext cx="0" cy="619094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5B01E400-B396-0A72-3E63-333B2ACED0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319" y="4730486"/>
            <a:ext cx="691923" cy="24995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6A9E659-733C-492B-4EFB-7CFEA0829D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219" y="1936916"/>
            <a:ext cx="411715" cy="18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858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9843B-87F8-D01C-C615-3C30522DA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39E0503-FAC8-2FCA-27F7-766C63F483B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80DBD774-2D30-07A6-B43F-1095E35D03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0"/>
            <a:ext cx="5824106" cy="51482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1204B1D-B164-DAE4-87E2-5AB5FEA2B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269777"/>
            <a:ext cx="5343525" cy="1430007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Condiciones Comerciales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EDFD036-784C-C29C-BED5-F5BF760533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4795CCAB-748D-781F-1584-718593208217}"/>
              </a:ext>
            </a:extLst>
          </p:cNvPr>
          <p:cNvGrpSpPr/>
          <p:nvPr/>
        </p:nvGrpSpPr>
        <p:grpSpPr>
          <a:xfrm>
            <a:off x="360229" y="1596199"/>
            <a:ext cx="4145096" cy="730841"/>
            <a:chOff x="774555" y="1621088"/>
            <a:chExt cx="4145096" cy="730841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851D6888-4D91-8069-AFFE-00742A6C4C40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9539B928-231F-904E-158B-40E5BF49E088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highlight>
                  <a:srgbClr val="FFFF00"/>
                </a:highlight>
                <a:latin typeface="Arial"/>
                <a:cs typeface="Arial"/>
              </a:endParaRP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C2F8A4D6-51FA-AAC3-08FA-763F9D0F44D2}"/>
              </a:ext>
            </a:extLst>
          </p:cNvPr>
          <p:cNvGrpSpPr/>
          <p:nvPr/>
        </p:nvGrpSpPr>
        <p:grpSpPr>
          <a:xfrm>
            <a:off x="360229" y="2327040"/>
            <a:ext cx="4145096" cy="730841"/>
            <a:chOff x="774555" y="1621088"/>
            <a:chExt cx="4145096" cy="730841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9DFA88D4-F4B5-ECCA-98E6-2DE415F49E42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D0AFA5C-4051-1FC5-7121-93DC9C017633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highlight>
                  <a:srgbClr val="FFFF00"/>
                </a:highlight>
                <a:latin typeface="Arial"/>
                <a:cs typeface="Arial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BAD9382-FAD1-2B6C-99D0-88A573A9B647}"/>
              </a:ext>
            </a:extLst>
          </p:cNvPr>
          <p:cNvGrpSpPr/>
          <p:nvPr/>
        </p:nvGrpSpPr>
        <p:grpSpPr>
          <a:xfrm>
            <a:off x="360229" y="3057881"/>
            <a:ext cx="4145096" cy="730841"/>
            <a:chOff x="774555" y="1621088"/>
            <a:chExt cx="4145096" cy="730841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6DAD97F4-019A-EE36-9647-9251526B194D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877687DF-74B5-F80C-3717-6FCFDEF9D44B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highlight>
                  <a:srgbClr val="FFFF00"/>
                </a:highlight>
                <a:latin typeface="Arial"/>
                <a:cs typeface="Arial"/>
              </a:endParaRP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8C71F84-EE69-B0AF-E5EA-F8602BEFF5AE}"/>
              </a:ext>
            </a:extLst>
          </p:cNvPr>
          <p:cNvGrpSpPr/>
          <p:nvPr/>
        </p:nvGrpSpPr>
        <p:grpSpPr>
          <a:xfrm>
            <a:off x="360229" y="3790164"/>
            <a:ext cx="4145096" cy="730841"/>
            <a:chOff x="774555" y="1621088"/>
            <a:chExt cx="4145096" cy="730841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6A8A5EA3-763F-9A87-BB5C-31FD8F00D250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D2167167-015F-9B69-38F6-FD043ED10A7C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highlight>
                  <a:srgbClr val="FFFF00"/>
                </a:highlight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7059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A7E6-4C4F-7D72-132D-53CED9EB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564034B-5425-D6C4-FC73-037EC0A3D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2974551" cy="5148262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3B1A3B43-D1E6-428A-F190-E56AF815A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3" y="1840014"/>
            <a:ext cx="2128053" cy="1028396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highlight>
                  <a:srgbClr val="FFFF00"/>
                </a:highlight>
                <a:latin typeface="Arial Black" panose="020B0604020202020204" pitchFamily="34" charset="0"/>
                <a:cs typeface="Arial Black" panose="020B0604020202020204" pitchFamily="34" charset="0"/>
              </a:rPr>
              <a:t>Garantía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97C3256A-E754-A00C-9B57-093389191E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sp>
        <p:nvSpPr>
          <p:cNvPr id="2" name="Redondear rectángulo de esquina diagonal 14">
            <a:extLst>
              <a:ext uri="{FF2B5EF4-FFF2-40B4-BE49-F238E27FC236}">
                <a16:creationId xmlns:a16="http://schemas.microsoft.com/office/drawing/2014/main" id="{0E0E7FED-9E3A-89A4-1947-0FE4F875EB38}"/>
              </a:ext>
            </a:extLst>
          </p:cNvPr>
          <p:cNvSpPr/>
          <p:nvPr/>
        </p:nvSpPr>
        <p:spPr>
          <a:xfrm>
            <a:off x="1725979" y="4077766"/>
            <a:ext cx="3547806" cy="961146"/>
          </a:xfrm>
          <a:prstGeom prst="round2DiagRect">
            <a:avLst>
              <a:gd name="adj1" fmla="val 15796"/>
              <a:gd name="adj2" fmla="val 40158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270000" tIns="135000" rIns="270000" bIns="270000" rtlCol="0" anchor="b"/>
          <a:lstStyle/>
          <a:p>
            <a:endParaRPr lang="es-MX" sz="1000" b="1" i="1">
              <a:solidFill>
                <a:srgbClr val="333333"/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25DD84-AEFA-5F78-2127-B8EE7B068937}"/>
              </a:ext>
            </a:extLst>
          </p:cNvPr>
          <p:cNvSpPr txBox="1"/>
          <p:nvPr/>
        </p:nvSpPr>
        <p:spPr>
          <a:xfrm>
            <a:off x="3824089" y="1102280"/>
            <a:ext cx="5025391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20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La garantía del producto está definida en dos fases, la fase de estabilización y la garantía:</a:t>
            </a: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 panose="020F0502020204030204" pitchFamily="34" charset="0"/>
            </a:endParaRPr>
          </a:p>
          <a:p>
            <a:pPr algn="just"/>
            <a:r>
              <a:rPr lang="es-MX" sz="1200" b="1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Fase de estabilización: </a:t>
            </a:r>
            <a:r>
              <a:rPr lang="es-MX" sz="120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Este periodo de tiempo inicia al momento de pasar el 100% de los desarrollos del producto al ambiente de QA del cliente. Se define un tiempo de 15 días calendario para que el cliente realice la certificación del producto.</a:t>
            </a: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 panose="020F0502020204030204" pitchFamily="34" charset="0"/>
            </a:endParaRPr>
          </a:p>
          <a:p>
            <a:pPr algn="just"/>
            <a:r>
              <a:rPr lang="es-MX" sz="1200" b="1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Fase de garantía: </a:t>
            </a:r>
            <a:r>
              <a:rPr lang="es-MX" sz="120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Hace referencia al periodo de soporte de fallas que puedan surgir posterior a la fase de estabilización. Para esto se define un tiempo de 90 días calendario. </a:t>
            </a: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/>
            </a:endParaRPr>
          </a:p>
          <a:p>
            <a:pPr algn="just"/>
            <a:r>
              <a:rPr lang="es-MX" sz="1200" b="1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ea typeface="Calibri"/>
                <a:cs typeface="Calibri"/>
              </a:rPr>
              <a:t>Garantía del producto </a:t>
            </a:r>
            <a:r>
              <a:rPr lang="es-MX" sz="120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ea typeface="Calibri"/>
                <a:cs typeface="Calibri"/>
              </a:rPr>
              <a:t>= 15 días de estabilización + 90 días de garantía. </a:t>
            </a:r>
            <a:endParaRPr lang="es-MX" sz="1200" dirty="0">
              <a:highlight>
                <a:srgbClr val="FFFF00"/>
              </a:highlight>
              <a:latin typeface="Arial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28C26A9-F823-77AD-603B-7C0A1E1CA019}"/>
              </a:ext>
            </a:extLst>
          </p:cNvPr>
          <p:cNvSpPr txBox="1">
            <a:spLocks/>
          </p:cNvSpPr>
          <p:nvPr/>
        </p:nvSpPr>
        <p:spPr>
          <a:xfrm>
            <a:off x="1947113" y="4118592"/>
            <a:ext cx="3547805" cy="335757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200" b="1">
                <a:solidFill>
                  <a:srgbClr val="15601D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  <a:r>
              <a:rPr lang="es-CO" sz="1200" b="1"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CO" sz="1200" b="1"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Actividades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51E137E-909B-63CB-8444-5F6F4CE67DB6}"/>
              </a:ext>
            </a:extLst>
          </p:cNvPr>
          <p:cNvSpPr txBox="1"/>
          <p:nvPr/>
        </p:nvSpPr>
        <p:spPr>
          <a:xfrm>
            <a:off x="1901605" y="4397531"/>
            <a:ext cx="3330222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100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Hasta ocho (8) días hábiles después de firmado el contrato entre </a:t>
            </a:r>
            <a:r>
              <a:rPr lang="es-MX" sz="1000" i="1" dirty="0">
                <a:solidFill>
                  <a:schemeClr val="accent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                      </a:t>
            </a:r>
            <a:r>
              <a:rPr lang="es-MX" sz="100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o recepción de orden de compra o correo formal aceptando la propuesta.</a:t>
            </a:r>
          </a:p>
        </p:txBody>
      </p:sp>
      <p:sp>
        <p:nvSpPr>
          <p:cNvPr id="11" name="Redondear rectángulo de esquina diagonal 14">
            <a:extLst>
              <a:ext uri="{FF2B5EF4-FFF2-40B4-BE49-F238E27FC236}">
                <a16:creationId xmlns:a16="http://schemas.microsoft.com/office/drawing/2014/main" id="{DBCD68DC-4E83-A366-E6E1-768D4C678F93}"/>
              </a:ext>
            </a:extLst>
          </p:cNvPr>
          <p:cNvSpPr/>
          <p:nvPr/>
        </p:nvSpPr>
        <p:spPr>
          <a:xfrm>
            <a:off x="5593602" y="4073087"/>
            <a:ext cx="3368338" cy="961146"/>
          </a:xfrm>
          <a:prstGeom prst="round2DiagRect">
            <a:avLst>
              <a:gd name="adj1" fmla="val 15796"/>
              <a:gd name="adj2" fmla="val 36878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2000" tIns="288000" rIns="72000" bIns="270000" rtlCol="0" anchor="b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000" b="1" i="1" u="none" strike="noStrike" kern="1200" cap="none" spc="0" normalizeH="0" baseline="0" noProof="0">
              <a:ln>
                <a:noFill/>
              </a:ln>
              <a:solidFill>
                <a:srgbClr val="669933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9C719A26-ED08-A5C0-2F9B-3AFD50A597F5}"/>
              </a:ext>
            </a:extLst>
          </p:cNvPr>
          <p:cNvSpPr txBox="1">
            <a:spLocks/>
          </p:cNvSpPr>
          <p:nvPr/>
        </p:nvSpPr>
        <p:spPr>
          <a:xfrm>
            <a:off x="5694800" y="4235570"/>
            <a:ext cx="2795883" cy="17976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200" b="1">
                <a:solidFill>
                  <a:srgbClr val="15601D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Vigencia</a:t>
            </a:r>
            <a:r>
              <a:rPr kumimoji="0" lang="es-CO" sz="16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effectLst/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 la propuesta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F0D8F82-2686-09E7-666A-0B3AA815F59A}"/>
              </a:ext>
            </a:extLst>
          </p:cNvPr>
          <p:cNvSpPr/>
          <p:nvPr/>
        </p:nvSpPr>
        <p:spPr>
          <a:xfrm>
            <a:off x="5688083" y="4467889"/>
            <a:ext cx="31793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000" i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La vigencia de la propuesta será de 60 días calendario a partir de la fecha de presentación de esta.</a:t>
            </a:r>
            <a:endParaRPr lang="es-CO" sz="1000" i="1">
              <a:solidFill>
                <a:srgbClr val="333333"/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dondear rectángulo de esquina diagonal 14">
            <a:extLst>
              <a:ext uri="{FF2B5EF4-FFF2-40B4-BE49-F238E27FC236}">
                <a16:creationId xmlns:a16="http://schemas.microsoft.com/office/drawing/2014/main" id="{AE49A1D3-40AD-766C-CA39-0E145F3BCFDA}"/>
              </a:ext>
            </a:extLst>
          </p:cNvPr>
          <p:cNvSpPr/>
          <p:nvPr/>
        </p:nvSpPr>
        <p:spPr>
          <a:xfrm>
            <a:off x="1633039" y="137336"/>
            <a:ext cx="5925646" cy="799064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2000" tIns="396000" rIns="72000" bIns="72000" rtlCol="0" anchor="ctr"/>
          <a:lstStyle/>
          <a:p>
            <a:r>
              <a:rPr lang="es-ES" sz="900" i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Se entiende por garantía el proceso por el cual </a:t>
            </a:r>
            <a:r>
              <a:rPr lang="es-ES" sz="900" b="1" i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CBIT </a:t>
            </a:r>
            <a:r>
              <a:rPr lang="es-ES" sz="900" i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coloca a disposición del proyecto el talento humano que sea necesario para atender fallas o errores en los componentes ocasionados por la operación diaria. Este período no incluye nuevos requerimientos o funcionalidades.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4E87E8F-2225-1659-D600-3B46AE5D9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3191" y="137336"/>
            <a:ext cx="240358" cy="24035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73DB4A3-C989-E2A2-E34C-C1335A034B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958" y="4592193"/>
            <a:ext cx="411715" cy="18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100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DAC3792-FBF0-63E5-0C5E-D31FA63F4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17" y="0"/>
            <a:ext cx="9158635" cy="5148263"/>
          </a:xfr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F619516D-2691-DBE9-88AE-C3BB07CBDF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6784" y="233863"/>
            <a:ext cx="1026000" cy="25166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BF842A1-8061-D34D-7924-67988881DC06}"/>
              </a:ext>
            </a:extLst>
          </p:cNvPr>
          <p:cNvSpPr txBox="1"/>
          <p:nvPr/>
        </p:nvSpPr>
        <p:spPr>
          <a:xfrm>
            <a:off x="533400" y="1408677"/>
            <a:ext cx="2156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Gracias</a:t>
            </a:r>
          </a:p>
        </p:txBody>
      </p:sp>
      <p:grpSp>
        <p:nvGrpSpPr>
          <p:cNvPr id="8" name="vertical">
            <a:extLst>
              <a:ext uri="{FF2B5EF4-FFF2-40B4-BE49-F238E27FC236}">
                <a16:creationId xmlns:a16="http://schemas.microsoft.com/office/drawing/2014/main" id="{7235EB6B-CAAE-87C7-7A6A-FF92535C17EF}"/>
              </a:ext>
            </a:extLst>
          </p:cNvPr>
          <p:cNvGrpSpPr/>
          <p:nvPr/>
        </p:nvGrpSpPr>
        <p:grpSpPr>
          <a:xfrm>
            <a:off x="631149" y="3070838"/>
            <a:ext cx="1489700" cy="1263841"/>
            <a:chOff x="373477" y="3452136"/>
            <a:chExt cx="1780358" cy="1510431"/>
          </a:xfrm>
        </p:grpSpPr>
        <p:grpSp>
          <p:nvGrpSpPr>
            <p:cNvPr id="9" name="duv-uaf-iaf">
              <a:extLst>
                <a:ext uri="{FF2B5EF4-FFF2-40B4-BE49-F238E27FC236}">
                  <a16:creationId xmlns:a16="http://schemas.microsoft.com/office/drawing/2014/main" id="{9DC18A9B-F9D5-B153-0D8D-C2673017ACD8}"/>
                </a:ext>
              </a:extLst>
            </p:cNvPr>
            <p:cNvGrpSpPr/>
            <p:nvPr/>
          </p:nvGrpSpPr>
          <p:grpSpPr>
            <a:xfrm>
              <a:off x="1305955" y="3452136"/>
              <a:ext cx="847880" cy="1510430"/>
              <a:chOff x="2215213" y="3665621"/>
              <a:chExt cx="755226" cy="1345374"/>
            </a:xfrm>
            <a:effectLst>
              <a:outerShdw blurRad="308960" dist="38100" dir="8100000" sx="105000" sy="105000" algn="tr" rotWithShape="0">
                <a:prstClr val="black">
                  <a:alpha val="20000"/>
                </a:prstClr>
              </a:outerShdw>
            </a:effectLst>
          </p:grpSpPr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E5D7DDF0-C410-D99E-C88C-4CE2D07D9CE7}"/>
                  </a:ext>
                </a:extLst>
              </p:cNvPr>
              <p:cNvSpPr/>
              <p:nvPr/>
            </p:nvSpPr>
            <p:spPr>
              <a:xfrm>
                <a:off x="2215213" y="3665621"/>
                <a:ext cx="755226" cy="1345374"/>
              </a:xfrm>
              <a:prstGeom prst="rect">
                <a:avLst/>
              </a:prstGeom>
              <a:solidFill>
                <a:srgbClr val="B3BE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D1B7316F-CE57-D612-F2A7-71358D4D7EA3}"/>
                  </a:ext>
                </a:extLst>
              </p:cNvPr>
              <p:cNvSpPr/>
              <p:nvPr/>
            </p:nvSpPr>
            <p:spPr>
              <a:xfrm>
                <a:off x="2215213" y="3665621"/>
                <a:ext cx="755226" cy="9615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81A025B5-7907-545D-0221-D6AE3C36A3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65586" y="3749683"/>
                <a:ext cx="454480" cy="156141"/>
              </a:xfrm>
              <a:prstGeom prst="rect">
                <a:avLst/>
              </a:prstGeom>
            </p:spPr>
          </p:pic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8046B672-50B0-563D-9E2A-1790EFE3BD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75112" y="3993567"/>
                <a:ext cx="435429" cy="205391"/>
              </a:xfrm>
              <a:prstGeom prst="rect">
                <a:avLst/>
              </a:prstGeom>
            </p:spPr>
          </p:pic>
          <p:pic>
            <p:nvPicPr>
              <p:cNvPr id="19" name="Imagen 18">
                <a:extLst>
                  <a:ext uri="{FF2B5EF4-FFF2-40B4-BE49-F238E27FC236}">
                    <a16:creationId xmlns:a16="http://schemas.microsoft.com/office/drawing/2014/main" id="{F92C4A5E-1E62-141E-0D7D-39AF4AB49C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63106" y="4286701"/>
                <a:ext cx="459441" cy="280963"/>
              </a:xfrm>
              <a:prstGeom prst="rect">
                <a:avLst/>
              </a:prstGeom>
            </p:spPr>
          </p:pic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13185D8-432F-85E4-E2CF-1DE2B5682817}"/>
                  </a:ext>
                </a:extLst>
              </p:cNvPr>
              <p:cNvSpPr txBox="1"/>
              <p:nvPr/>
            </p:nvSpPr>
            <p:spPr>
              <a:xfrm>
                <a:off x="2226205" y="4684084"/>
                <a:ext cx="733242" cy="301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27001:2022</a:t>
                </a:r>
              </a:p>
              <a:p>
                <a:pPr algn="ctr"/>
                <a:r>
                  <a:rPr lang="es-CO" sz="400"/>
                  <a:t>PRC/DUV-COL/IS3164</a:t>
                </a:r>
              </a:p>
              <a:p>
                <a:pPr algn="ctr"/>
                <a:r>
                  <a:rPr lang="es-CO" sz="400"/>
                  <a:t>CAB/DUV-COL/IS3165</a:t>
                </a:r>
              </a:p>
            </p:txBody>
          </p:sp>
          <p:cxnSp>
            <p:nvCxnSpPr>
              <p:cNvPr id="21" name="Conector recto 20">
                <a:extLst>
                  <a:ext uri="{FF2B5EF4-FFF2-40B4-BE49-F238E27FC236}">
                    <a16:creationId xmlns:a16="http://schemas.microsoft.com/office/drawing/2014/main" id="{682EBE46-2D1C-EC4E-4293-7F63F7A00A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5213" y="4627194"/>
                <a:ext cx="755226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future builders">
              <a:extLst>
                <a:ext uri="{FF2B5EF4-FFF2-40B4-BE49-F238E27FC236}">
                  <a16:creationId xmlns:a16="http://schemas.microsoft.com/office/drawing/2014/main" id="{D616C77A-DD46-7D24-95A6-81762C9D3556}"/>
                </a:ext>
              </a:extLst>
            </p:cNvPr>
            <p:cNvGrpSpPr/>
            <p:nvPr/>
          </p:nvGrpSpPr>
          <p:grpSpPr>
            <a:xfrm>
              <a:off x="373477" y="3452136"/>
              <a:ext cx="833903" cy="1510431"/>
              <a:chOff x="367517" y="3499719"/>
              <a:chExt cx="833903" cy="1510431"/>
            </a:xfrm>
            <a:effectLst>
              <a:outerShdw blurRad="304800" dist="38100" dir="8100000" sx="105000" sy="105000" algn="ctr" rotWithShape="0">
                <a:srgbClr val="000000">
                  <a:alpha val="20000"/>
                </a:srgbClr>
              </a:outerShdw>
            </a:effectLst>
          </p:grpSpPr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E16EB1EB-E0FC-29A3-CDF8-86619D7BC559}"/>
                  </a:ext>
                </a:extLst>
              </p:cNvPr>
              <p:cNvSpPr/>
              <p:nvPr/>
            </p:nvSpPr>
            <p:spPr>
              <a:xfrm>
                <a:off x="367517" y="3499719"/>
                <a:ext cx="833134" cy="151043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chemeClr val="bg1"/>
                  </a:solidFill>
                </a:endParaRPr>
              </a:p>
            </p:txBody>
          </p:sp>
          <p:pic>
            <p:nvPicPr>
              <p:cNvPr id="12" name="Imagen 11">
                <a:extLst>
                  <a:ext uri="{FF2B5EF4-FFF2-40B4-BE49-F238E27FC236}">
                    <a16:creationId xmlns:a16="http://schemas.microsoft.com/office/drawing/2014/main" id="{E6FDC158-7AD8-0346-DED8-BF57327222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68286" y="3505128"/>
                <a:ext cx="833134" cy="1173189"/>
              </a:xfrm>
              <a:prstGeom prst="rect">
                <a:avLst/>
              </a:prstGeom>
            </p:spPr>
          </p:pic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5FEA9470-D609-E2BD-F409-FAD3C520570B}"/>
                  </a:ext>
                </a:extLst>
              </p:cNvPr>
              <p:cNvSpPr/>
              <p:nvPr/>
            </p:nvSpPr>
            <p:spPr>
              <a:xfrm>
                <a:off x="424764" y="4221126"/>
                <a:ext cx="712800" cy="698114"/>
              </a:xfrm>
              <a:prstGeom prst="rect">
                <a:avLst/>
              </a:prstGeom>
              <a:solidFill>
                <a:srgbClr val="B1BF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2317B9E-6293-2A42-0B46-F21F57D7EBCE}"/>
                  </a:ext>
                </a:extLst>
              </p:cNvPr>
              <p:cNvSpPr txBox="1"/>
              <p:nvPr/>
            </p:nvSpPr>
            <p:spPr>
              <a:xfrm>
                <a:off x="431786" y="4221127"/>
                <a:ext cx="704596" cy="625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9001:2015</a:t>
                </a:r>
              </a:p>
              <a:p>
                <a:pPr algn="ctr"/>
                <a:r>
                  <a:rPr lang="es-CO" sz="400"/>
                  <a:t>MSC-57124103</a:t>
                </a:r>
              </a:p>
              <a:p>
                <a:pPr algn="ctr"/>
                <a:r>
                  <a:rPr lang="es-CO" sz="400"/>
                  <a:t>MSC-57124103-1</a:t>
                </a:r>
              </a:p>
              <a:p>
                <a:pPr algn="ctr"/>
                <a:endParaRPr lang="es-CO" sz="400"/>
              </a:p>
              <a:p>
                <a:pPr algn="ctr">
                  <a:lnSpc>
                    <a:spcPts val="0"/>
                  </a:lnSpc>
                </a:pPr>
                <a:endParaRPr lang="es-CO" sz="400"/>
              </a:p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27032:2023</a:t>
                </a:r>
              </a:p>
              <a:p>
                <a:pPr algn="ctr"/>
                <a:r>
                  <a:rPr lang="es-CO" sz="400"/>
                  <a:t>MSC-571924002</a:t>
                </a:r>
              </a:p>
              <a:p>
                <a:pPr algn="ctr"/>
                <a:r>
                  <a:rPr lang="es-CO" sz="400"/>
                  <a:t>MSC-571924002-1</a:t>
                </a:r>
              </a:p>
            </p:txBody>
          </p:sp>
        </p:grpSp>
      </p:grpSp>
      <p:pic>
        <p:nvPicPr>
          <p:cNvPr id="23" name="Imagen 22">
            <a:extLst>
              <a:ext uri="{FF2B5EF4-FFF2-40B4-BE49-F238E27FC236}">
                <a16:creationId xmlns:a16="http://schemas.microsoft.com/office/drawing/2014/main" id="{DF1F4422-5300-C43E-5015-9B4959B68A0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526" y="2008011"/>
            <a:ext cx="2740004" cy="85162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BDCC8DCC-EC20-7B34-937F-B08A0C6C354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63968" y="4755399"/>
            <a:ext cx="3636000" cy="169444"/>
          </a:xfrm>
          <a:prstGeom prst="rect">
            <a:avLst/>
          </a:prstGeom>
        </p:spPr>
      </p:pic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F7251CC8-5E53-231D-8DB7-30EF3F4B4000}"/>
              </a:ext>
            </a:extLst>
          </p:cNvPr>
          <p:cNvCxnSpPr/>
          <p:nvPr/>
        </p:nvCxnSpPr>
        <p:spPr>
          <a:xfrm>
            <a:off x="4114800" y="4780635"/>
            <a:ext cx="5334000" cy="0"/>
          </a:xfrm>
          <a:prstGeom prst="line">
            <a:avLst/>
          </a:prstGeom>
          <a:ln w="19050">
            <a:solidFill>
              <a:srgbClr val="6DFD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0772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662B3A-31AA-438A-A768-F5B4421260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93E959-676C-47DA-8D5F-FE602D004E80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4948dcbb-4498-453a-bb2a-2f6e93dc52f8"/>
    <ds:schemaRef ds:uri="http://purl.org/dc/terms/"/>
    <ds:schemaRef ds:uri="http://purl.org/dc/elements/1.1/"/>
    <ds:schemaRef ds:uri="http://purl.org/dc/dcmitype/"/>
    <ds:schemaRef ds:uri="http://schemas.openxmlformats.org/package/2006/metadata/core-properties"/>
    <ds:schemaRef ds:uri="42031908-afc3-4861-95d9-cc85d1091e34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1bdfea1-5fcd-44c1-8196-dfa7afddd8c5}" enabled="0" method="" siteId="{e1bdfea1-5fcd-44c1-8196-dfa7afddd8c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53</TotalTime>
  <Words>1156</Words>
  <Application>Microsoft Office PowerPoint</Application>
  <PresentationFormat>Personalizado</PresentationFormat>
  <Paragraphs>251</Paragraphs>
  <Slides>20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Arial</vt:lpstr>
      <vt:lpstr>Arial Black</vt:lpstr>
      <vt:lpstr>Calibri</vt:lpstr>
      <vt:lpstr>Calibri Light</vt:lpstr>
      <vt:lpstr>Wingdings</vt:lpstr>
      <vt:lpstr>Tema de Office</vt:lpstr>
      <vt:lpstr>Espacio para poner el título de tu presentación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</vt:lpstr>
      <vt:lpstr>Presentación de PowerPoint</vt:lpstr>
      <vt:lpstr>Consideraciones</vt:lpstr>
      <vt:lpstr>Presentación de PowerPoint</vt:lpstr>
      <vt:lpstr>Presentación de PowerPoint</vt:lpstr>
      <vt:lpstr>Presentación de PowerPoint</vt:lpstr>
      <vt:lpstr>Presentación de PowerPoint</vt:lpstr>
      <vt:lpstr>Oferta Económica</vt:lpstr>
      <vt:lpstr>Presentación de PowerPoint</vt:lpstr>
      <vt:lpstr>Forma de Pago</vt:lpstr>
      <vt:lpstr>Condiciones Comerciales</vt:lpstr>
      <vt:lpstr>Garantía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Camilo A. Torres Perez</cp:lastModifiedBy>
  <cp:revision>36</cp:revision>
  <dcterms:created xsi:type="dcterms:W3CDTF">2024-01-17T20:43:53Z</dcterms:created>
  <dcterms:modified xsi:type="dcterms:W3CDTF">2026-08-13T15:23:01Z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
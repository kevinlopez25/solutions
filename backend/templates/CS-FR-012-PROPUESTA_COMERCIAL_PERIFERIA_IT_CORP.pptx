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147482852" r:id="rId5"/>
    <p:sldId id="2147483040" r:id="rId6"/>
    <p:sldId id="2147483032" r:id="rId7"/>
    <p:sldId id="2147483033" r:id="rId8"/>
    <p:sldId id="2147482830" r:id="rId9"/>
    <p:sldId id="2147482822" r:id="rId10"/>
    <p:sldId id="2147483034" r:id="rId11"/>
    <p:sldId id="2147482794" r:id="rId12"/>
    <p:sldId id="2147482831" r:id="rId13"/>
    <p:sldId id="2147482795" r:id="rId14"/>
    <p:sldId id="2147482829" r:id="rId15"/>
    <p:sldId id="2147483035" r:id="rId16"/>
    <p:sldId id="2147483036" r:id="rId17"/>
    <p:sldId id="2147483037" r:id="rId18"/>
    <p:sldId id="2147482832" r:id="rId19"/>
    <p:sldId id="2147483026" r:id="rId20"/>
    <p:sldId id="2147483038" r:id="rId21"/>
    <p:sldId id="2147482846" r:id="rId22"/>
    <p:sldId id="2147483039" r:id="rId23"/>
    <p:sldId id="2147482804" r:id="rId24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15601D"/>
    <a:srgbClr val="6DFD8C"/>
    <a:srgbClr val="CCFFD6"/>
    <a:srgbClr val="00356E"/>
    <a:srgbClr val="B1BFCE"/>
    <a:srgbClr val="FFFFFF"/>
    <a:srgbClr val="B3BFCD"/>
    <a:srgbClr val="B3BECC"/>
    <a:srgbClr val="21E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0CB48E-FCE8-F0F2-E16A-727BEA00405C}" v="188" dt="2026-03-17T17:21:21.969"/>
    <p1510:client id="{931E3809-198B-AC10-E3FE-176DFF767676}" v="52" dt="2026-03-17T17:11:55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 varScale="1">
        <p:scale>
          <a:sx n="80" d="100"/>
          <a:sy n="80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80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6EED-5228-7C49-8EE1-2C112C6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85886F-2EB1-AF8F-BCAE-C0F65207C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56F79D-8AEE-7250-9C13-00297A98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ECA58-1AF5-7004-017F-2CAB8FD79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395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24/08/2026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sv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26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34" Type="http://schemas.openxmlformats.org/officeDocument/2006/relationships/image" Target="../media/image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82.svg"/><Relationship Id="rId2" Type="http://schemas.openxmlformats.org/officeDocument/2006/relationships/image" Target="../media/image27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30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35" Type="http://schemas.openxmlformats.org/officeDocument/2006/relationships/image" Target="../media/image26.png"/><Relationship Id="rId8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4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forms.office.com/r/8CpjHiEsEU?propuesta=" TargetMode="External"/><Relationship Id="rId4" Type="http://schemas.openxmlformats.org/officeDocument/2006/relationships/hyperlink" Target="https://forms.office.com/r/8CpjHiEsEU?propuesta=1403317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0.png"/><Relationship Id="rId7" Type="http://schemas.openxmlformats.org/officeDocument/2006/relationships/image" Target="../media/image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svg"/><Relationship Id="rId7" Type="http://schemas.openxmlformats.org/officeDocument/2006/relationships/image" Target="../media/image110.pn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221EC0A-954F-EDF1-F4D1-F978E445D5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000" y="-8869"/>
            <a:ext cx="9184000" cy="516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5EE1BA-6175-F132-1009-91ACD399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264120"/>
            <a:ext cx="7886700" cy="549204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s-ES" sz="1600" b="1">
                <a:solidFill>
                  <a:srgbClr val="6DFD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poner el título de tu presentación</a:t>
            </a:r>
            <a:endParaRPr lang="es-CO" sz="1400" b="1">
              <a:solidFill>
                <a:srgbClr val="6DFD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D3A4FA5-DCF1-29F4-92B9-4D0E6CC6DBF3}"/>
              </a:ext>
            </a:extLst>
          </p:cNvPr>
          <p:cNvCxnSpPr>
            <a:cxnSpLocks/>
          </p:cNvCxnSpPr>
          <p:nvPr/>
        </p:nvCxnSpPr>
        <p:spPr>
          <a:xfrm>
            <a:off x="2333002" y="3302257"/>
            <a:ext cx="4503634" cy="0"/>
          </a:xfrm>
          <a:prstGeom prst="line">
            <a:avLst/>
          </a:prstGeom>
          <a:ln>
            <a:solidFill>
              <a:srgbClr val="6DFD8C"/>
            </a:solidFill>
          </a:ln>
          <a:effectLst>
            <a:outerShdw blurRad="50800" dist="38100" dir="5400000" algn="t" rotWithShape="0">
              <a:prstClr val="black">
                <a:alpha val="30075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E0BD3CC-1E36-CB1B-CE04-7AA43B182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87336"/>
            <a:ext cx="7886700" cy="409882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mm de </a:t>
            </a: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aaaa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ciudad, País.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Ref.: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xxxxx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Vx.0.0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DC79C6-EACA-7C9A-4E2F-8B6F1DE0EC7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50" y="71593"/>
            <a:ext cx="1477653" cy="36852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6267181-0C70-690B-6DC3-F845F3AF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882"/>
                    </a14:imgEffect>
                    <a14:imgEffect>
                      <a14:saturation sat="174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648" y="1220413"/>
            <a:ext cx="3008704" cy="101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70F0D354-2E21-7BF5-9A33-4CB46D05A3D3}"/>
              </a:ext>
            </a:extLst>
          </p:cNvPr>
          <p:cNvSpPr/>
          <p:nvPr/>
        </p:nvSpPr>
        <p:spPr>
          <a:xfrm>
            <a:off x="3413746" y="2455513"/>
            <a:ext cx="2316508" cy="647710"/>
          </a:xfrm>
          <a:prstGeom prst="roundRect">
            <a:avLst/>
          </a:prstGeom>
          <a:solidFill>
            <a:schemeClr val="bg1">
              <a:alpha val="616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05C1E71-F45A-366A-F369-0DC01B634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575" y="2548905"/>
            <a:ext cx="1092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2B3FC92-AC3A-1FDB-4577-73022DE60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>
          <a:xfrm>
            <a:off x="-2470" y="5"/>
            <a:ext cx="9148941" cy="514825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A1786FC9-E7DD-A3C0-38A5-CB4583ACE14C}"/>
              </a:ext>
            </a:extLst>
          </p:cNvPr>
          <p:cNvSpPr txBox="1">
            <a:spLocks/>
          </p:cNvSpPr>
          <p:nvPr/>
        </p:nvSpPr>
        <p:spPr>
          <a:xfrm>
            <a:off x="182887" y="598116"/>
            <a:ext cx="3835337" cy="425597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CO" sz="1199">
                <a:solidFill>
                  <a:srgbClr val="333333"/>
                </a:solidFill>
              </a:rPr>
              <a:t>Alcanzamos resultados gracias a nuestra experiencia, capacidad analítica y enfoque en el equipo humano.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146C6C9-D45D-82D2-47DD-B60E104DF70D}"/>
              </a:ext>
            </a:extLst>
          </p:cNvPr>
          <p:cNvGrpSpPr/>
          <p:nvPr/>
        </p:nvGrpSpPr>
        <p:grpSpPr>
          <a:xfrm>
            <a:off x="84178" y="1173562"/>
            <a:ext cx="4536875" cy="617003"/>
            <a:chOff x="84178" y="1255156"/>
            <a:chExt cx="4536875" cy="617003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20576C5B-34FD-31A8-24AD-E32876E7C886}"/>
                </a:ext>
              </a:extLst>
            </p:cNvPr>
            <p:cNvCxnSpPr>
              <a:cxnSpLocks/>
            </p:cNvCxnSpPr>
            <p:nvPr/>
          </p:nvCxnSpPr>
          <p:spPr>
            <a:xfrm>
              <a:off x="1745685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8F056D6D-94B0-989F-2146-19EE665974D9}"/>
                </a:ext>
              </a:extLst>
            </p:cNvPr>
            <p:cNvGrpSpPr/>
            <p:nvPr/>
          </p:nvGrpSpPr>
          <p:grpSpPr>
            <a:xfrm>
              <a:off x="84178" y="1279734"/>
              <a:ext cx="1618201" cy="592425"/>
              <a:chOff x="84178" y="1279734"/>
              <a:chExt cx="1618201" cy="592425"/>
            </a:xfrm>
          </p:grpSpPr>
          <p:sp>
            <p:nvSpPr>
              <p:cNvPr id="8" name="Subtítulo 2">
                <a:extLst>
                  <a:ext uri="{FF2B5EF4-FFF2-40B4-BE49-F238E27FC236}">
                    <a16:creationId xmlns:a16="http://schemas.microsoft.com/office/drawing/2014/main" id="{6563484A-96C8-073F-BE54-1C4448F94B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2138" y="1446561"/>
                <a:ext cx="1292762" cy="425598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rm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de Periferia IT </a:t>
                </a:r>
                <a:r>
                  <a:rPr lang="es-CO" sz="899" err="1">
                    <a:solidFill>
                      <a:srgbClr val="333333"/>
                    </a:solidFill>
                  </a:rPr>
                  <a:t>Group</a:t>
                </a:r>
                <a:r>
                  <a:rPr lang="es-CO" sz="899">
                    <a:solidFill>
                      <a:srgbClr val="333333"/>
                    </a:solidFill>
                  </a:rPr>
                  <a:t> en todo el mundo.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1680AFA-D7AB-8BC7-92FE-8C3065D037B7}"/>
                  </a:ext>
                </a:extLst>
              </p:cNvPr>
              <p:cNvSpPr txBox="1"/>
              <p:nvPr/>
            </p:nvSpPr>
            <p:spPr>
              <a:xfrm>
                <a:off x="84178" y="1279734"/>
                <a:ext cx="1618201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 dirty="0">
                    <a:solidFill>
                      <a:srgbClr val="15601D"/>
                    </a:solidFill>
                  </a:rPr>
                  <a:t>+ de 2000 colaboradores </a:t>
                </a:r>
              </a:p>
            </p:txBody>
          </p:sp>
        </p:grp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2DC36EA6-D21F-B38C-C514-7926874E000B}"/>
                </a:ext>
              </a:extLst>
            </p:cNvPr>
            <p:cNvGrpSpPr/>
            <p:nvPr/>
          </p:nvGrpSpPr>
          <p:grpSpPr>
            <a:xfrm>
              <a:off x="1820265" y="1289196"/>
              <a:ext cx="1129815" cy="553459"/>
              <a:chOff x="1820265" y="1289196"/>
              <a:chExt cx="1129815" cy="553459"/>
            </a:xfrm>
          </p:grpSpPr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06F13B96-B259-F046-3A5B-DC3C851C92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38706" y="1446562"/>
                <a:ext cx="1088492" cy="396093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como proveedores de servicios.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DEAD53E-7125-496A-8F8D-7FA366A1BB03}"/>
                  </a:ext>
                </a:extLst>
              </p:cNvPr>
              <p:cNvSpPr txBox="1"/>
              <p:nvPr/>
            </p:nvSpPr>
            <p:spPr>
              <a:xfrm>
                <a:off x="1820265" y="1289196"/>
                <a:ext cx="1129815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Calificación AA+</a:t>
                </a:r>
              </a:p>
            </p:txBody>
          </p:sp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9B6164-7945-4E7F-E5C9-A545B0F58165}"/>
                </a:ext>
              </a:extLst>
            </p:cNvPr>
            <p:cNvGrpSpPr/>
            <p:nvPr/>
          </p:nvGrpSpPr>
          <p:grpSpPr>
            <a:xfrm>
              <a:off x="3078157" y="1289196"/>
              <a:ext cx="1542896" cy="547278"/>
              <a:chOff x="3078157" y="1289196"/>
              <a:chExt cx="1542896" cy="547278"/>
            </a:xfrm>
          </p:grpSpPr>
          <p:sp>
            <p:nvSpPr>
              <p:cNvPr id="12" name="Subtítulo 2">
                <a:extLst>
                  <a:ext uri="{FF2B5EF4-FFF2-40B4-BE49-F238E27FC236}">
                    <a16:creationId xmlns:a16="http://schemas.microsoft.com/office/drawing/2014/main" id="{3069327B-3D18-C597-63E6-8DB3AE87F2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15774" y="1446562"/>
                <a:ext cx="1382246" cy="389912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Incrementan el consumo de nuestros servicios.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DD3B11A-88F7-A077-27EB-911A3F8E156E}"/>
                  </a:ext>
                </a:extLst>
              </p:cNvPr>
              <p:cNvSpPr txBox="1"/>
              <p:nvPr/>
            </p:nvSpPr>
            <p:spPr>
              <a:xfrm>
                <a:off x="3078157" y="1289196"/>
                <a:ext cx="1542896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del 89% de clientes</a:t>
                </a: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023CFBF-4B2B-2A23-CC54-34116C6FE983}"/>
                </a:ext>
              </a:extLst>
            </p:cNvPr>
            <p:cNvCxnSpPr>
              <a:cxnSpLocks/>
            </p:cNvCxnSpPr>
            <p:nvPr/>
          </p:nvCxnSpPr>
          <p:spPr>
            <a:xfrm>
              <a:off x="3012319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EF77B67F-C25F-CC31-66CD-B4F9FCE6929A}"/>
              </a:ext>
            </a:extLst>
          </p:cNvPr>
          <p:cNvGrpSpPr/>
          <p:nvPr/>
        </p:nvGrpSpPr>
        <p:grpSpPr>
          <a:xfrm>
            <a:off x="147101" y="1923963"/>
            <a:ext cx="5050405" cy="724416"/>
            <a:chOff x="310711" y="1717309"/>
            <a:chExt cx="5050405" cy="724416"/>
          </a:xfrm>
        </p:grpSpPr>
        <p:sp>
          <p:nvSpPr>
            <p:cNvPr id="15" name="Subtítulo 2">
              <a:extLst>
                <a:ext uri="{FF2B5EF4-FFF2-40B4-BE49-F238E27FC236}">
                  <a16:creationId xmlns:a16="http://schemas.microsoft.com/office/drawing/2014/main" id="{C795CA70-38AA-3170-80A7-983569CC095E}"/>
                </a:ext>
              </a:extLst>
            </p:cNvPr>
            <p:cNvSpPr txBox="1">
              <a:spLocks/>
            </p:cNvSpPr>
            <p:nvPr/>
          </p:nvSpPr>
          <p:spPr>
            <a:xfrm>
              <a:off x="310711" y="1717309"/>
              <a:ext cx="325725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Expertos en tecnología de vanguardia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F0CF8C6-0385-53DA-C446-B21AFD3BC1A4}"/>
                </a:ext>
              </a:extLst>
            </p:cNvPr>
            <p:cNvGrpSpPr/>
            <p:nvPr/>
          </p:nvGrpSpPr>
          <p:grpSpPr>
            <a:xfrm>
              <a:off x="361796" y="1980060"/>
              <a:ext cx="4999320" cy="461665"/>
              <a:chOff x="202138" y="1960396"/>
              <a:chExt cx="4999320" cy="461665"/>
            </a:xfrm>
          </p:grpSpPr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D5523CC0-1548-B3DE-4C88-B87B923C0301}"/>
                  </a:ext>
                </a:extLst>
              </p:cNvPr>
              <p:cNvGrpSpPr/>
              <p:nvPr/>
            </p:nvGrpSpPr>
            <p:grpSpPr>
              <a:xfrm>
                <a:off x="202138" y="2052729"/>
                <a:ext cx="1113355" cy="276999"/>
                <a:chOff x="202138" y="2052729"/>
                <a:chExt cx="1113355" cy="276999"/>
              </a:xfrm>
            </p:grpSpPr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22F6C58-3B1D-D213-9222-3AB62F8A3B2F}"/>
                    </a:ext>
                  </a:extLst>
                </p:cNvPr>
                <p:cNvSpPr txBox="1"/>
                <p:nvPr/>
              </p:nvSpPr>
              <p:spPr>
                <a:xfrm>
                  <a:off x="496287" y="2052729"/>
                  <a:ext cx="819206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IT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Staffing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18" name="Gráfico 17">
                  <a:extLst>
                    <a:ext uri="{FF2B5EF4-FFF2-40B4-BE49-F238E27FC236}">
                      <a16:creationId xmlns:a16="http://schemas.microsoft.com/office/drawing/2014/main" id="{64C4E768-6A19-1327-506F-80BE59B0D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138" y="2071000"/>
                  <a:ext cx="327021" cy="240457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F9AB90C2-CA86-CD7F-26E5-5CFF9368DF5B}"/>
                  </a:ext>
                </a:extLst>
              </p:cNvPr>
              <p:cNvGrpSpPr/>
              <p:nvPr/>
            </p:nvGrpSpPr>
            <p:grpSpPr>
              <a:xfrm>
                <a:off x="1393847" y="1960396"/>
                <a:ext cx="1197968" cy="461665"/>
                <a:chOff x="1423343" y="1960396"/>
                <a:chExt cx="1197968" cy="461665"/>
              </a:xfrm>
            </p:grpSpPr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8AEF274-AF72-586C-393D-4A0BABD5C0AC}"/>
                    </a:ext>
                  </a:extLst>
                </p:cNvPr>
                <p:cNvSpPr txBox="1"/>
                <p:nvPr/>
              </p:nvSpPr>
              <p:spPr>
                <a:xfrm>
                  <a:off x="1880193" y="1960396"/>
                  <a:ext cx="74111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Software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factory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0" name="Gráfico 19">
                  <a:extLst>
                    <a:ext uri="{FF2B5EF4-FFF2-40B4-BE49-F238E27FC236}">
                      <a16:creationId xmlns:a16="http://schemas.microsoft.com/office/drawing/2014/main" id="{457B1EDA-9D73-E556-321A-DA9F807855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3343" y="2045588"/>
                  <a:ext cx="463890" cy="291280"/>
                </a:xfrm>
                <a:prstGeom prst="rect">
                  <a:avLst/>
                </a:prstGeom>
              </p:spPr>
            </p:pic>
          </p:grpSp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34ADF1C2-2901-8E1C-88D2-08E5DDEE87C2}"/>
                  </a:ext>
                </a:extLst>
              </p:cNvPr>
              <p:cNvGrpSpPr/>
              <p:nvPr/>
            </p:nvGrpSpPr>
            <p:grpSpPr>
              <a:xfrm>
                <a:off x="2684750" y="1960396"/>
                <a:ext cx="1206249" cy="461665"/>
                <a:chOff x="2714246" y="1960396"/>
                <a:chExt cx="1206249" cy="461665"/>
              </a:xfrm>
            </p:grpSpPr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6DCF996F-4A8B-C06B-2BEA-42ADD4DA659A}"/>
                    </a:ext>
                  </a:extLst>
                </p:cNvPr>
                <p:cNvSpPr txBox="1"/>
                <p:nvPr/>
              </p:nvSpPr>
              <p:spPr>
                <a:xfrm>
                  <a:off x="2965767" y="1960396"/>
                  <a:ext cx="95472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Quality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engineering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3" name="Gráfico 22">
                  <a:extLst>
                    <a:ext uri="{FF2B5EF4-FFF2-40B4-BE49-F238E27FC236}">
                      <a16:creationId xmlns:a16="http://schemas.microsoft.com/office/drawing/2014/main" id="{5A7344EF-FEBF-D9B5-3040-12EA25D713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246" y="2034800"/>
                  <a:ext cx="248127" cy="312856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1F26BC-822D-64B0-0EB9-AF6B56E9307F}"/>
                  </a:ext>
                </a:extLst>
              </p:cNvPr>
              <p:cNvGrpSpPr/>
              <p:nvPr/>
            </p:nvGrpSpPr>
            <p:grpSpPr>
              <a:xfrm>
                <a:off x="3926495" y="1960396"/>
                <a:ext cx="1274963" cy="461665"/>
                <a:chOff x="3975655" y="1960396"/>
                <a:chExt cx="1274963" cy="461665"/>
              </a:xfrm>
            </p:grpSpPr>
            <p:pic>
              <p:nvPicPr>
                <p:cNvPr id="26" name="Gráfico 25">
                  <a:extLst>
                    <a:ext uri="{FF2B5EF4-FFF2-40B4-BE49-F238E27FC236}">
                      <a16:creationId xmlns:a16="http://schemas.microsoft.com/office/drawing/2014/main" id="{AE41ADF6-DA02-C5F9-1ED8-11DCD5D91C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5655" y="2034800"/>
                  <a:ext cx="302068" cy="312856"/>
                </a:xfrm>
                <a:prstGeom prst="rect">
                  <a:avLst/>
                </a:prstGeom>
              </p:spPr>
            </p:pic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686D89CF-E697-5318-F1FF-7F6049C81CFE}"/>
                    </a:ext>
                  </a:extLst>
                </p:cNvPr>
                <p:cNvSpPr txBox="1"/>
                <p:nvPr/>
              </p:nvSpPr>
              <p:spPr>
                <a:xfrm>
                  <a:off x="4277723" y="1960396"/>
                  <a:ext cx="972895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Technology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accelerators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</p:grpSp>
        </p:grp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B7D4922-2582-7F22-8496-EEAD4DFF84BE}"/>
              </a:ext>
            </a:extLst>
          </p:cNvPr>
          <p:cNvGrpSpPr/>
          <p:nvPr/>
        </p:nvGrpSpPr>
        <p:grpSpPr>
          <a:xfrm>
            <a:off x="133453" y="3886440"/>
            <a:ext cx="4775558" cy="1058448"/>
            <a:chOff x="133453" y="3886440"/>
            <a:chExt cx="4775558" cy="1058448"/>
          </a:xfrm>
        </p:grpSpPr>
        <p:sp>
          <p:nvSpPr>
            <p:cNvPr id="30" name="Subtítulo 2">
              <a:extLst>
                <a:ext uri="{FF2B5EF4-FFF2-40B4-BE49-F238E27FC236}">
                  <a16:creationId xmlns:a16="http://schemas.microsoft.com/office/drawing/2014/main" id="{24C0C7BF-C30D-298F-3F0C-E986C727431B}"/>
                </a:ext>
              </a:extLst>
            </p:cNvPr>
            <p:cNvSpPr txBox="1">
              <a:spLocks/>
            </p:cNvSpPr>
            <p:nvPr/>
          </p:nvSpPr>
          <p:spPr>
            <a:xfrm>
              <a:off x="133453" y="3886440"/>
              <a:ext cx="3059505" cy="414731"/>
            </a:xfrm>
            <a:prstGeom prst="rect">
              <a:avLst/>
            </a:prstGeom>
          </p:spPr>
          <p:txBody>
            <a:bodyPr vert="horz" lIns="68516" tIns="34259" rIns="68516" bIns="34259" rtlCol="0">
              <a:no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Forma parte de este grupo de clientes que evoluciona sus empresas</a:t>
              </a:r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E0FE7441-031C-3259-72A3-179B33718C39}"/>
                </a:ext>
              </a:extLst>
            </p:cNvPr>
            <p:cNvGrpSpPr/>
            <p:nvPr/>
          </p:nvGrpSpPr>
          <p:grpSpPr>
            <a:xfrm>
              <a:off x="185289" y="4306410"/>
              <a:ext cx="4723722" cy="638478"/>
              <a:chOff x="224972" y="4221577"/>
              <a:chExt cx="4676550" cy="724444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54ECC65-CBA0-5D45-7BEF-921962192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" y="4341726"/>
                <a:ext cx="706116" cy="96289"/>
              </a:xfrm>
              <a:prstGeom prst="rect">
                <a:avLst/>
              </a:prstGeom>
            </p:spPr>
          </p:pic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4ADA94B0-4E60-BC5A-AE51-9362B4252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92208" y="4313670"/>
                <a:ext cx="485775" cy="152400"/>
              </a:xfrm>
              <a:prstGeom prst="rect">
                <a:avLst/>
              </a:prstGeom>
            </p:spPr>
          </p:pic>
          <p:pic>
            <p:nvPicPr>
              <p:cNvPr id="34" name="Imagen 33" descr="Texto&#10;&#10;Descripción generada automáticamente">
                <a:extLst>
                  <a:ext uri="{FF2B5EF4-FFF2-40B4-BE49-F238E27FC236}">
                    <a16:creationId xmlns:a16="http://schemas.microsoft.com/office/drawing/2014/main" id="{B388922D-4876-935C-940E-49FBE8D46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05954" y="4632605"/>
                <a:ext cx="471180" cy="173974"/>
              </a:xfrm>
              <a:prstGeom prst="rect">
                <a:avLst/>
              </a:pr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C5ECEAC-3F41-9D80-2EAB-AFEFD9EED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00765" y="4303925"/>
                <a:ext cx="485775" cy="171890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CF1CC28-2252-72BF-86A2-346370327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0135" y="4327307"/>
                <a:ext cx="693005" cy="125126"/>
              </a:xfrm>
              <a:prstGeom prst="rect">
                <a:avLst/>
              </a:prstGeom>
            </p:spPr>
          </p:pic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617F3E92-6323-B46E-97EC-3DA27FCF00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24369" y="4291996"/>
                <a:ext cx="630742" cy="195748"/>
              </a:xfrm>
              <a:prstGeom prst="rect">
                <a:avLst/>
              </a:prstGeom>
            </p:spPr>
          </p:pic>
          <p:pic>
            <p:nvPicPr>
              <p:cNvPr id="38" name="Imagen 37" descr="Logotipo&#10;&#10;Descripción generada automáticamente">
                <a:extLst>
                  <a:ext uri="{FF2B5EF4-FFF2-40B4-BE49-F238E27FC236}">
                    <a16:creationId xmlns:a16="http://schemas.microsoft.com/office/drawing/2014/main" id="{F3E06ACC-1A38-5E05-C4B8-7C8ACAAEA1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9095" y="4310390"/>
                <a:ext cx="604898" cy="158960"/>
              </a:xfrm>
              <a:prstGeom prst="rect">
                <a:avLst/>
              </a:prstGeom>
            </p:spPr>
          </p:pic>
          <p:pic>
            <p:nvPicPr>
              <p:cNvPr id="39" name="Imagen 38" descr="Logotipo&#10;&#10;Descripción generada automáticamente con confianza media">
                <a:extLst>
                  <a:ext uri="{FF2B5EF4-FFF2-40B4-BE49-F238E27FC236}">
                    <a16:creationId xmlns:a16="http://schemas.microsoft.com/office/drawing/2014/main" id="{886030E8-9803-7942-AB14-37925FD3F4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399" y="4609373"/>
                <a:ext cx="625262" cy="220439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9EE6FBC-EB79-F5FE-C380-FD2E883EAF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63887" y="4582921"/>
                <a:ext cx="305500" cy="273342"/>
              </a:xfrm>
              <a:prstGeom prst="rect">
                <a:avLst/>
              </a:prstGeom>
            </p:spPr>
          </p:pic>
          <p:pic>
            <p:nvPicPr>
              <p:cNvPr id="41" name="Imagen 40">
                <a:extLst>
                  <a:ext uri="{FF2B5EF4-FFF2-40B4-BE49-F238E27FC236}">
                    <a16:creationId xmlns:a16="http://schemas.microsoft.com/office/drawing/2014/main" id="{926C8D51-90C0-1F70-2996-D1A6A76F2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61505" y="4633243"/>
                <a:ext cx="556470" cy="172698"/>
              </a:xfrm>
              <a:prstGeom prst="rect">
                <a:avLst/>
              </a:prstGeom>
            </p:spPr>
          </p:pic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76C1F26E-DC38-5D8D-B52D-29AA87A8A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90902" y="4619515"/>
                <a:ext cx="305500" cy="200155"/>
              </a:xfrm>
              <a:prstGeom prst="rect">
                <a:avLst/>
              </a:prstGeom>
            </p:spPr>
          </p:pic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DB066898-FE04-7C18-681D-9B283331C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68669" y="4655968"/>
                <a:ext cx="532853" cy="127248"/>
              </a:xfrm>
              <a:prstGeom prst="rect">
                <a:avLst/>
              </a:prstGeom>
            </p:spPr>
          </p:pic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DF404E1B-2BA7-53A7-4B0D-A80D343C18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794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09983206-0556-C4AC-14D3-16853D204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55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CA9085DD-1AFE-72E0-93AD-944BF31D3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419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D7EB1D0E-3BA0-3909-878E-B1F57325BA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384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5B838F8B-ACAB-678D-B73F-B0E636331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607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D894EB-BF9B-4DFE-27C4-CAE58F19FCB3}"/>
              </a:ext>
            </a:extLst>
          </p:cNvPr>
          <p:cNvSpPr txBox="1"/>
          <p:nvPr/>
        </p:nvSpPr>
        <p:spPr>
          <a:xfrm>
            <a:off x="6503747" y="4063912"/>
            <a:ext cx="2418232" cy="40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Desafiamos barreras, </a:t>
            </a:r>
          </a:p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brindando respaldo internacional 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BAD37AEA-30C9-8653-4491-30E60AB2E3EA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3" y="4562897"/>
            <a:ext cx="3034706" cy="381991"/>
          </a:xfrm>
          <a:prstGeom prst="rect">
            <a:avLst/>
          </a:prstGeom>
        </p:spPr>
      </p:pic>
      <p:sp>
        <p:nvSpPr>
          <p:cNvPr id="57" name="Subtítulo 2">
            <a:extLst>
              <a:ext uri="{FF2B5EF4-FFF2-40B4-BE49-F238E27FC236}">
                <a16:creationId xmlns:a16="http://schemas.microsoft.com/office/drawing/2014/main" id="{43B76E3A-ECA9-8AE0-63C6-3803AC4D269B}"/>
              </a:ext>
            </a:extLst>
          </p:cNvPr>
          <p:cNvSpPr txBox="1">
            <a:spLocks/>
          </p:cNvSpPr>
          <p:nvPr/>
        </p:nvSpPr>
        <p:spPr>
          <a:xfrm>
            <a:off x="6454553" y="2573338"/>
            <a:ext cx="2418232" cy="763002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CO" sz="1700" b="1">
                <a:solidFill>
                  <a:schemeClr val="bg1"/>
                </a:solidFill>
              </a:rPr>
              <a:t>+ de 20 años brindando soluciones de tecnología a proyectos y negocios.</a:t>
            </a:r>
          </a:p>
        </p:txBody>
      </p:sp>
      <p:pic>
        <p:nvPicPr>
          <p:cNvPr id="28" name="Gráfico 9">
            <a:extLst>
              <a:ext uri="{FF2B5EF4-FFF2-40B4-BE49-F238E27FC236}">
                <a16:creationId xmlns:a16="http://schemas.microsoft.com/office/drawing/2014/main" id="{577E21C4-F74A-4C95-82E2-6896FF355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7993" y="156020"/>
            <a:ext cx="1026000" cy="251660"/>
          </a:xfrm>
          <a:prstGeom prst="rect">
            <a:avLst/>
          </a:prstGeom>
        </p:spPr>
      </p:pic>
      <p:sp>
        <p:nvSpPr>
          <p:cNvPr id="50" name="Subtítulo 2">
            <a:extLst>
              <a:ext uri="{FF2B5EF4-FFF2-40B4-BE49-F238E27FC236}">
                <a16:creationId xmlns:a16="http://schemas.microsoft.com/office/drawing/2014/main" id="{6322498F-D915-3F99-D6B0-DE4AD46F2C65}"/>
              </a:ext>
            </a:extLst>
          </p:cNvPr>
          <p:cNvSpPr txBox="1">
            <a:spLocks/>
          </p:cNvSpPr>
          <p:nvPr/>
        </p:nvSpPr>
        <p:spPr>
          <a:xfrm>
            <a:off x="174828" y="2816122"/>
            <a:ext cx="3257254" cy="263334"/>
          </a:xfrm>
          <a:prstGeom prst="rect">
            <a:avLst/>
          </a:prstGeom>
        </p:spPr>
        <p:txBody>
          <a:bodyPr vert="horz" lIns="68516" tIns="34259" rIns="68516" bIns="34259" rtlCol="0">
            <a:norm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ES" sz="1199" b="1">
                <a:solidFill>
                  <a:srgbClr val="15601D"/>
                </a:solidFill>
              </a:rPr>
              <a:t>C</a:t>
            </a:r>
            <a:r>
              <a:rPr lang="es-CO" sz="1199" b="1" err="1">
                <a:solidFill>
                  <a:srgbClr val="15601D"/>
                </a:solidFill>
              </a:rPr>
              <a:t>ertificaciones</a:t>
            </a:r>
            <a:endParaRPr lang="es-CO" sz="1199" noProof="0">
              <a:solidFill>
                <a:srgbClr val="15601D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027E10-C51A-3425-5641-234D2A9DD96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1508" y="3074977"/>
            <a:ext cx="3185575" cy="7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2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16AEF1-A44E-8640-8F31-AE08F933A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999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44E798A-E2D6-13E4-90EB-A3218F2EC31A}"/>
              </a:ext>
            </a:extLst>
          </p:cNvPr>
          <p:cNvSpPr txBox="1">
            <a:spLocks/>
          </p:cNvSpPr>
          <p:nvPr/>
        </p:nvSpPr>
        <p:spPr>
          <a:xfrm>
            <a:off x="356790" y="1307939"/>
            <a:ext cx="3758009" cy="694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s-CO" sz="2000" b="1">
                <a:solidFill>
                  <a:srgbClr val="15601D"/>
                </a:solidFill>
                <a:latin typeface="Arial Black" panose="020B0604020202020204" pitchFamily="34" charset="0"/>
                <a:cs typeface="Calibri" panose="020F0502020204030204" pitchFamily="34" charset="0"/>
              </a:rPr>
              <a:t>Confidencialidad de la Propuesta</a:t>
            </a:r>
            <a:endParaRPr lang="es-CO" sz="2200" b="1">
              <a:solidFill>
                <a:srgbClr val="15601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69E2F9-926E-6AB7-3FA3-6F585771A333}"/>
              </a:ext>
            </a:extLst>
          </p:cNvPr>
          <p:cNvSpPr txBox="1"/>
          <p:nvPr/>
        </p:nvSpPr>
        <p:spPr>
          <a:xfrm>
            <a:off x="356790" y="2155454"/>
            <a:ext cx="3970113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MX" sz="1600" dirty="0"/>
              <a:t>El contenido de la presente propuesta es de carácter confidencial entre </a:t>
            </a:r>
            <a:r>
              <a:rPr lang="es-MX" sz="1600" b="1" dirty="0"/>
              <a:t>PERIFERIA IT GROUP </a:t>
            </a:r>
            <a:r>
              <a:rPr lang="es-MX" sz="1600" dirty="0"/>
              <a:t>y </a:t>
            </a:r>
            <a:r>
              <a:rPr lang="es-MX" sz="1600" dirty="0">
                <a:solidFill>
                  <a:schemeClr val="accent1"/>
                </a:solidFill>
              </a:rPr>
              <a:t>               </a:t>
            </a:r>
            <a:r>
              <a:rPr lang="es-MX" sz="1600" dirty="0"/>
              <a:t>; en caso de utilizar o disponer de la solución, es indispensable una autorización previa firma por el representante legal de </a:t>
            </a:r>
            <a:r>
              <a:rPr lang="es-MX" sz="1600" b="1" dirty="0"/>
              <a:t>PERIFERIA IT GROUP</a:t>
            </a:r>
            <a:r>
              <a:rPr lang="es-MX" sz="1600" dirty="0"/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37FB96-3916-B9BE-27D8-00AC4BE89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153" y="2689545"/>
            <a:ext cx="530206" cy="234277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E113956-FC22-4004-1AC6-618995DEF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3" y="100760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256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E77E99-5208-D6E4-C69F-40C5F1BE37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868673C-19F4-1216-9FA8-0F63E545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9" y="61311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Objetivo del Servicio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98096-7B7E-6303-C785-CF7C90685067}"/>
              </a:ext>
            </a:extLst>
          </p:cNvPr>
          <p:cNvSpPr txBox="1"/>
          <p:nvPr/>
        </p:nvSpPr>
        <p:spPr>
          <a:xfrm>
            <a:off x="431649" y="996300"/>
            <a:ext cx="8410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dirty="0"/>
              <a:t>Presentar a </a:t>
            </a:r>
            <a:r>
              <a:rPr lang="es-CO" sz="1200" dirty="0">
                <a:solidFill>
                  <a:schemeClr val="accent1"/>
                </a:solidFill>
              </a:rPr>
              <a:t> </a:t>
            </a:r>
            <a:r>
              <a:rPr lang="es-CO" sz="1200" dirty="0"/>
              <a:t>  los servicios de xxxxxxxxxxxxxxxxxxxxxxxxxxxxxxxxxxxxxxxxxxxxxxxxxxxxxxxxxxxxxxxxxxxxxxxxxxxxxxxxxxxxxxxxxxxxxxxxxxxxxxxxxxxxxxxxxxxxxxxxxxxxxxxxxxxxxxxxxxxxxxxxxxxxxxxxxxxxxxxxxxxxxxxxxxxxx. 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B60FE6F-5678-0B74-1614-DC26AFA14005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FC1753C-561B-AF63-A7FA-2964B2A0677A}"/>
              </a:ext>
            </a:extLst>
          </p:cNvPr>
          <p:cNvSpPr/>
          <p:nvPr/>
        </p:nvSpPr>
        <p:spPr>
          <a:xfrm>
            <a:off x="431649" y="1693264"/>
            <a:ext cx="8141835" cy="109166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 dirty="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FA14E07-A4E0-B347-0E2E-49421AC8FEB5}"/>
              </a:ext>
            </a:extLst>
          </p:cNvPr>
          <p:cNvSpPr txBox="1">
            <a:spLocks/>
          </p:cNvSpPr>
          <p:nvPr/>
        </p:nvSpPr>
        <p:spPr>
          <a:xfrm>
            <a:off x="564836" y="2229044"/>
            <a:ext cx="597187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AS-IS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E79CC-8F60-76AF-6830-85B9BFCF067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rcRect/>
          <a:stretch/>
        </p:blipFill>
        <p:spPr>
          <a:xfrm>
            <a:off x="667153" y="1813738"/>
            <a:ext cx="366178" cy="36478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1B0C7C-1FE4-2C33-FE39-9E3E47247903}"/>
              </a:ext>
            </a:extLst>
          </p:cNvPr>
          <p:cNvSpPr/>
          <p:nvPr/>
        </p:nvSpPr>
        <p:spPr>
          <a:xfrm>
            <a:off x="431650" y="2834069"/>
            <a:ext cx="8141834" cy="1262970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 dirty="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E2A7BBE-6717-2741-7BCA-E132F550A6DB}"/>
              </a:ext>
            </a:extLst>
          </p:cNvPr>
          <p:cNvSpPr txBox="1">
            <a:spLocks/>
          </p:cNvSpPr>
          <p:nvPr/>
        </p:nvSpPr>
        <p:spPr>
          <a:xfrm>
            <a:off x="564836" y="3350638"/>
            <a:ext cx="608165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D3E04A2-40E9-99B2-53DE-A3CBF3CE9CE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8747" y="2984460"/>
            <a:ext cx="354022" cy="366178"/>
          </a:xfrm>
          <a:prstGeom prst="rect">
            <a:avLst/>
          </a:prstGeom>
        </p:spPr>
      </p:pic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F18425BF-0899-A0F2-EC0C-CD7814FE84EB}"/>
              </a:ext>
            </a:extLst>
          </p:cNvPr>
          <p:cNvSpPr/>
          <p:nvPr/>
        </p:nvSpPr>
        <p:spPr>
          <a:xfrm>
            <a:off x="4173270" y="4535953"/>
            <a:ext cx="4899660" cy="568047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propuesta se presenta de acuerdo con xxxxxxxxxxxxxxxxxxxxxxxxxxxxxxxxxxxxxxxxxxxxxxxxxxxxxxxxxxxxxxxxxxxxxxxxxxxxxxxxxxxxxxxxxxxxxxxxxxxxxxxxxxxxxxxxxxxxxxxxxx.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655519-03E0-240F-4305-8C33670AF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563" y="4658257"/>
            <a:ext cx="323437" cy="32343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ED9A1F2-F104-225E-343A-08B6209D6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910" y="996300"/>
            <a:ext cx="530206" cy="23427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4AF5D15E-58A0-EF49-DBFC-CA6C12207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8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AA813-2605-A80A-A94A-E3C96DC6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B37F35-F63F-8AE3-2FB3-FBBB3364B1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0C4613F-2E18-238C-9B63-2D5E4D9C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93" y="476623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 err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Roadmap</a:t>
            </a: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del Servicio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7AB9324-39EC-66EE-CD8A-EAFD4B7B9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782" y="672810"/>
            <a:ext cx="346983" cy="2818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CA2C06-4A33-5C34-2E14-96679C947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098" y="1121910"/>
            <a:ext cx="1603457" cy="803316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281D83-41F3-123F-4448-02C680A7A732}"/>
              </a:ext>
            </a:extLst>
          </p:cNvPr>
          <p:cNvCxnSpPr>
            <a:cxnSpLocks/>
          </p:cNvCxnSpPr>
          <p:nvPr/>
        </p:nvCxnSpPr>
        <p:spPr>
          <a:xfrm>
            <a:off x="1359937" y="1968088"/>
            <a:ext cx="0" cy="294153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F6F71DF-5EB6-683A-C176-44E9E6CFF486}"/>
              </a:ext>
            </a:extLst>
          </p:cNvPr>
          <p:cNvCxnSpPr>
            <a:cxnSpLocks/>
          </p:cNvCxnSpPr>
          <p:nvPr/>
        </p:nvCxnSpPr>
        <p:spPr>
          <a:xfrm>
            <a:off x="2927895" y="1968087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4D375AC-7C2C-548B-23F6-61AE048E0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921545" y="3396133"/>
            <a:ext cx="1603457" cy="803316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5135B70-81F4-3209-36F6-904A8854A8DB}"/>
              </a:ext>
            </a:extLst>
          </p:cNvPr>
          <p:cNvCxnSpPr>
            <a:cxnSpLocks/>
          </p:cNvCxnSpPr>
          <p:nvPr/>
        </p:nvCxnSpPr>
        <p:spPr>
          <a:xfrm>
            <a:off x="4473664" y="1925226"/>
            <a:ext cx="12660" cy="138518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B39F647-74D8-2FE1-D614-CCBC594F8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123" y="1079049"/>
            <a:ext cx="1603457" cy="803316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2793418-4326-95D3-6FD5-250D3DACF286}"/>
              </a:ext>
            </a:extLst>
          </p:cNvPr>
          <p:cNvCxnSpPr>
            <a:cxnSpLocks/>
          </p:cNvCxnSpPr>
          <p:nvPr/>
        </p:nvCxnSpPr>
        <p:spPr>
          <a:xfrm>
            <a:off x="6044920" y="1925226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B7468F45-3B20-E2AF-CEF7-1F175B57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038570" y="3353272"/>
            <a:ext cx="1603457" cy="803316"/>
          </a:xfrm>
          <a:prstGeom prst="rect">
            <a:avLst/>
          </a:prstGeom>
        </p:spPr>
      </p:pic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7EB486-B6DC-55F5-C9F3-A8DDB0F8E851}"/>
              </a:ext>
            </a:extLst>
          </p:cNvPr>
          <p:cNvCxnSpPr>
            <a:cxnSpLocks/>
          </p:cNvCxnSpPr>
          <p:nvPr/>
        </p:nvCxnSpPr>
        <p:spPr>
          <a:xfrm flipH="1">
            <a:off x="7603349" y="1121910"/>
            <a:ext cx="12827" cy="2145640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D203157-30F8-E8DC-4A8A-229EA350DBD6}"/>
              </a:ext>
            </a:extLst>
          </p:cNvPr>
          <p:cNvSpPr/>
          <p:nvPr/>
        </p:nvSpPr>
        <p:spPr>
          <a:xfrm rot="16200000">
            <a:off x="7308467" y="1490622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FINISH</a:t>
            </a:r>
            <a:endParaRPr lang="es-CO" sz="1400" b="1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1418C9-46BB-5F16-E273-2D446B09388A}"/>
              </a:ext>
            </a:extLst>
          </p:cNvPr>
          <p:cNvSpPr/>
          <p:nvPr/>
        </p:nvSpPr>
        <p:spPr>
          <a:xfrm>
            <a:off x="1528586" y="2465418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AEF0B8-5C09-4F6E-364C-C6FFCFE8C754}"/>
              </a:ext>
            </a:extLst>
          </p:cNvPr>
          <p:cNvSpPr/>
          <p:nvPr/>
        </p:nvSpPr>
        <p:spPr>
          <a:xfrm rot="16200000">
            <a:off x="472718" y="41948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START</a:t>
            </a:r>
            <a:endParaRPr lang="es-CO" sz="1400" b="1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159C56C-0FC4-F334-58A7-D4DC8C939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464" y="2958036"/>
            <a:ext cx="762000" cy="7747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F9DB47-4CE4-048C-E64A-E00BC97DA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454" y="1580737"/>
            <a:ext cx="762000" cy="7747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5A8AC6A-04C9-4ECA-D83A-F8ECB04665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812" y="2965922"/>
            <a:ext cx="762000" cy="7747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33D8CC7-5317-9ED2-23E9-D274269105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1188" y="1509260"/>
            <a:ext cx="762000" cy="774700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2792F362-0262-6161-B298-52F208E4B473}"/>
              </a:ext>
            </a:extLst>
          </p:cNvPr>
          <p:cNvSpPr txBox="1">
            <a:spLocks/>
          </p:cNvSpPr>
          <p:nvPr/>
        </p:nvSpPr>
        <p:spPr>
          <a:xfrm>
            <a:off x="1444125" y="2821854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0CAA353-1DC2-7FA0-6A24-B31BA001B09B}"/>
              </a:ext>
            </a:extLst>
          </p:cNvPr>
          <p:cNvSpPr txBox="1">
            <a:spLocks/>
          </p:cNvSpPr>
          <p:nvPr/>
        </p:nvSpPr>
        <p:spPr>
          <a:xfrm>
            <a:off x="1435882" y="3614334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018B0CA-5B52-69C6-1004-BAEF7C4FCBBC}"/>
              </a:ext>
            </a:extLst>
          </p:cNvPr>
          <p:cNvSpPr/>
          <p:nvPr/>
        </p:nvSpPr>
        <p:spPr>
          <a:xfrm>
            <a:off x="3103354" y="875850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8FCFAE28-9A0C-C469-37CD-7A8FAF9EDF47}"/>
              </a:ext>
            </a:extLst>
          </p:cNvPr>
          <p:cNvSpPr txBox="1">
            <a:spLocks/>
          </p:cNvSpPr>
          <p:nvPr/>
        </p:nvSpPr>
        <p:spPr>
          <a:xfrm>
            <a:off x="3018893" y="1232286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</a:rPr>
              <a:t>XXXXXXXXXXXXXXXXXXXXXXXXXXXX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6A0AA77A-9500-5009-A8C7-E4B9D9623C7D}"/>
              </a:ext>
            </a:extLst>
          </p:cNvPr>
          <p:cNvSpPr txBox="1">
            <a:spLocks/>
          </p:cNvSpPr>
          <p:nvPr/>
        </p:nvSpPr>
        <p:spPr>
          <a:xfrm>
            <a:off x="3034206" y="187556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5D5A9E-E540-2B62-F20E-2E071365AA41}"/>
              </a:ext>
            </a:extLst>
          </p:cNvPr>
          <p:cNvSpPr/>
          <p:nvPr/>
        </p:nvSpPr>
        <p:spPr>
          <a:xfrm>
            <a:off x="4656461" y="24724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FB571E55-C4D6-0929-A7B8-F4E3DE04DE41}"/>
              </a:ext>
            </a:extLst>
          </p:cNvPr>
          <p:cNvSpPr txBox="1">
            <a:spLocks/>
          </p:cNvSpPr>
          <p:nvPr/>
        </p:nvSpPr>
        <p:spPr>
          <a:xfrm>
            <a:off x="4572000" y="2828885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A7642A37-B25D-5FF7-05B0-211B089224F0}"/>
              </a:ext>
            </a:extLst>
          </p:cNvPr>
          <p:cNvSpPr txBox="1">
            <a:spLocks/>
          </p:cNvSpPr>
          <p:nvPr/>
        </p:nvSpPr>
        <p:spPr>
          <a:xfrm>
            <a:off x="4579461" y="356639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43B9D30-7465-DFEC-5E6B-8DEE1845E25D}"/>
              </a:ext>
            </a:extLst>
          </p:cNvPr>
          <p:cNvSpPr/>
          <p:nvPr/>
        </p:nvSpPr>
        <p:spPr>
          <a:xfrm>
            <a:off x="6216715" y="882881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52521EB4-6580-7EDF-F989-786F5C2F40FF}"/>
              </a:ext>
            </a:extLst>
          </p:cNvPr>
          <p:cNvSpPr txBox="1">
            <a:spLocks/>
          </p:cNvSpPr>
          <p:nvPr/>
        </p:nvSpPr>
        <p:spPr>
          <a:xfrm>
            <a:off x="6132254" y="1239317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27875719-3634-20B1-7D99-01828EA1E3BD}"/>
              </a:ext>
            </a:extLst>
          </p:cNvPr>
          <p:cNvSpPr txBox="1">
            <a:spLocks/>
          </p:cNvSpPr>
          <p:nvPr/>
        </p:nvSpPr>
        <p:spPr>
          <a:xfrm>
            <a:off x="6139715" y="1709840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XXXXXXXXXXXXXXXXXXXXXXXXXXX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6BBECF3-0BAC-5FDE-C1C7-E3454640B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92" y="4596197"/>
            <a:ext cx="533427" cy="35879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0987C7-FF1D-7C79-CC01-7A4CE195D021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8781C91E-DB91-4508-E83B-2CA3945BD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5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C3A768F4-1CAA-9E53-9DB7-8CFF0B0103BB}"/>
              </a:ext>
            </a:extLst>
          </p:cNvPr>
          <p:cNvSpPr txBox="1">
            <a:spLocks/>
          </p:cNvSpPr>
          <p:nvPr/>
        </p:nvSpPr>
        <p:spPr>
          <a:xfrm>
            <a:off x="1596738" y="418634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Alcance Técnico del Servicio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36F34E4C-6B01-ABEF-DCFF-9A69E883C059}"/>
              </a:ext>
            </a:extLst>
          </p:cNvPr>
          <p:cNvSpPr txBox="1"/>
          <p:nvPr/>
        </p:nvSpPr>
        <p:spPr>
          <a:xfrm>
            <a:off x="315532" y="907803"/>
            <a:ext cx="825335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b="1">
                <a:solidFill>
                  <a:srgbClr val="333333"/>
                </a:solidFill>
                <a:cs typeface="Calibri"/>
              </a:rPr>
              <a:t>PERIFERIA IT CORP </a:t>
            </a:r>
            <a:r>
              <a:rPr lang="es-MX" sz="1200">
                <a:solidFill>
                  <a:srgbClr val="333333"/>
                </a:solidFill>
                <a:cs typeface="Calibri"/>
              </a:rPr>
              <a:t>considerará las siguientes funcionalidades</a:t>
            </a:r>
            <a:r>
              <a:rPr lang="es-CO" sz="1200">
                <a:solidFill>
                  <a:srgbClr val="333333"/>
                </a:solidFill>
                <a:cs typeface="Calibri"/>
              </a:rPr>
              <a:t>:</a:t>
            </a:r>
            <a:endParaRPr lang="es-MX" sz="1200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228600" indent="-228600" algn="just">
              <a:buAutoNum type="alphaUcPeriod"/>
            </a:pPr>
            <a:r>
              <a:rPr lang="es-MX" sz="1200" b="1" err="1">
                <a:solidFill>
                  <a:srgbClr val="333333"/>
                </a:solidFill>
                <a:cs typeface="Calibri"/>
              </a:rPr>
              <a:t>Xxxxxxxxxxxxxxxxxxxxxxxxxxxxxxxxxxxxxxxxxxxxxx</a:t>
            </a:r>
            <a:endParaRPr lang="es-MX" sz="1200" b="1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 b="1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1200" b="1">
                <a:solidFill>
                  <a:srgbClr val="333333"/>
                </a:solidFill>
                <a:cs typeface="Calibri"/>
              </a:rPr>
              <a:t>Actividades a realizar por PERIFERIA IT CORP: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F038376-B2F1-C37F-5512-A2F21AF34F7C}"/>
              </a:ext>
            </a:extLst>
          </p:cNvPr>
          <p:cNvGrpSpPr/>
          <p:nvPr/>
        </p:nvGrpSpPr>
        <p:grpSpPr>
          <a:xfrm>
            <a:off x="315532" y="2062070"/>
            <a:ext cx="8512934" cy="1201341"/>
            <a:chOff x="261994" y="1984164"/>
            <a:chExt cx="8512934" cy="1201341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56B1BF8-862B-0D04-6578-B4C8B47135A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DB39C54D-DCE8-75BA-AF10-5FC15F73240B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E56A94A8-F23E-F74F-6F61-091C3D66FAA7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E174530-3125-F415-03A5-B3726B04F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D659DFF-947D-27FC-3651-D089BD64A58E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097DBA00-3389-A4E2-DEDB-6563DDD6D271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A5F68104-2CE8-8A70-F314-860B2467B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C1E827A-7D85-FBD7-3326-44964AD76550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ea typeface="Calibri"/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ea typeface="Calibri"/>
                  <a:cs typeface="Calibri"/>
                </a:endParaRPr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BB06428-4984-00E5-6F34-4BF79650AB08}"/>
              </a:ext>
            </a:extLst>
          </p:cNvPr>
          <p:cNvGrpSpPr/>
          <p:nvPr/>
        </p:nvGrpSpPr>
        <p:grpSpPr>
          <a:xfrm>
            <a:off x="315532" y="3455049"/>
            <a:ext cx="8512934" cy="1201341"/>
            <a:chOff x="261994" y="1984164"/>
            <a:chExt cx="8512934" cy="1201341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595E00B4-1512-273C-FDAF-40AC30B7957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7B1BF94-CAAB-59CD-502C-7AF865119243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3672A9B2-3E62-1836-3899-55B166DF10AF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4D45196-C43B-2337-A4AC-D323648CD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238ECF0B-C148-1AE7-6CE4-03A3FCED8BF6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82C93978-E422-02E8-59BC-F35017009B8E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2243BA0E-E8CA-B7C6-272E-69ED534CB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1DD819C-1076-9A87-9361-8EB02474F2DF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B06EA-78B4-70E9-D7A0-95C6A77C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0F32524-0263-3704-9480-1600ECAF3C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EC39243-A870-C3B9-DE54-B8A2B2B4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40183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Entregables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21FD3A-AA86-C1EC-E687-BD9EA6C650EC}"/>
              </a:ext>
            </a:extLst>
          </p:cNvPr>
          <p:cNvSpPr txBox="1"/>
          <p:nvPr/>
        </p:nvSpPr>
        <p:spPr>
          <a:xfrm>
            <a:off x="136374" y="739614"/>
            <a:ext cx="8815150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685800">
              <a:spcBef>
                <a:spcPts val="750"/>
              </a:spcBef>
              <a:defRPr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Toda la documentación, informes y avances generados durante la gestión del proyecto se entregan mediante la herramienta Azure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Devops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, el código fuente y demás artefactos quedan en el repositorio establecido por </a:t>
            </a:r>
            <a:r>
              <a:rPr lang="es-CO" sz="1200" b="1" dirty="0">
                <a:solidFill>
                  <a:schemeClr val="accent1"/>
                </a:solidFill>
                <a:cs typeface="Arial"/>
              </a:rPr>
              <a:t>                       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. </a:t>
            </a:r>
          </a:p>
          <a:p>
            <a:pPr algn="just" defTabSz="685800">
              <a:spcBef>
                <a:spcPts val="750"/>
              </a:spcBef>
              <a:defRPr/>
            </a:pPr>
            <a:r>
              <a:rPr lang="es-CO" sz="1200" b="1" dirty="0">
                <a:solidFill>
                  <a:schemeClr val="accent1"/>
                </a:solidFill>
                <a:cs typeface="Arial"/>
              </a:rPr>
              <a:t>                   </a:t>
            </a:r>
            <a:r>
              <a:rPr lang="es-CO" sz="1200" b="1" dirty="0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b="1" dirty="0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dirty="0">
                <a:solidFill>
                  <a:srgbClr val="333333"/>
                </a:solidFill>
                <a:cs typeface="Arial"/>
              </a:rPr>
              <a:t>y </a:t>
            </a:r>
            <a:r>
              <a:rPr lang="es-MX" sz="1200" b="1" dirty="0">
                <a:solidFill>
                  <a:srgbClr val="333333"/>
                </a:solidFill>
                <a:cs typeface="Arial"/>
              </a:rPr>
              <a:t>PERIFERIA IT GROUP </a:t>
            </a:r>
            <a:r>
              <a:rPr lang="es-MX" sz="1200" dirty="0">
                <a:solidFill>
                  <a:srgbClr val="333333"/>
                </a:solidFill>
                <a:cs typeface="Arial"/>
              </a:rPr>
              <a:t>acordarán los formatos que deben seguir los entregables.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DAEDE91-EE19-22FD-055D-47FEAD325E8E}"/>
              </a:ext>
            </a:extLst>
          </p:cNvPr>
          <p:cNvSpPr/>
          <p:nvPr/>
        </p:nvSpPr>
        <p:spPr>
          <a:xfrm>
            <a:off x="446877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9D92BB4-5930-5734-E7A2-3C15FABE6180}"/>
              </a:ext>
            </a:extLst>
          </p:cNvPr>
          <p:cNvSpPr txBox="1">
            <a:spLocks/>
          </p:cNvSpPr>
          <p:nvPr/>
        </p:nvSpPr>
        <p:spPr>
          <a:xfrm>
            <a:off x="537492" y="2196178"/>
            <a:ext cx="272580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9614BA-4C66-1E9F-BEEF-33EF5F512964}"/>
              </a:ext>
            </a:extLst>
          </p:cNvPr>
          <p:cNvSpPr txBox="1"/>
          <p:nvPr/>
        </p:nvSpPr>
        <p:spPr>
          <a:xfrm>
            <a:off x="552827" y="2623250"/>
            <a:ext cx="230050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67A6A2-CBF1-97A3-7EC1-4F0433B99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6466" y="1856241"/>
            <a:ext cx="412266" cy="40200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AF70BED-6B8A-3B40-76F1-9B43D2381FF8}"/>
              </a:ext>
            </a:extLst>
          </p:cNvPr>
          <p:cNvSpPr/>
          <p:nvPr/>
        </p:nvSpPr>
        <p:spPr>
          <a:xfrm>
            <a:off x="3197310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8040AED-0742-18FA-8AA8-9A822BE552AB}"/>
              </a:ext>
            </a:extLst>
          </p:cNvPr>
          <p:cNvSpPr txBox="1">
            <a:spLocks/>
          </p:cNvSpPr>
          <p:nvPr/>
        </p:nvSpPr>
        <p:spPr>
          <a:xfrm>
            <a:off x="3287925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6F59CF-31E9-31A3-AEFE-607448936085}"/>
              </a:ext>
            </a:extLst>
          </p:cNvPr>
          <p:cNvSpPr txBox="1"/>
          <p:nvPr/>
        </p:nvSpPr>
        <p:spPr>
          <a:xfrm>
            <a:off x="3325064" y="2623250"/>
            <a:ext cx="230533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ED20777-8B07-C193-94DF-CF0BB96B1B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8844" y="1843809"/>
            <a:ext cx="398488" cy="333758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95487D0-955E-0D02-955C-E42E28AFF808}"/>
              </a:ext>
            </a:extLst>
          </p:cNvPr>
          <p:cNvSpPr/>
          <p:nvPr/>
        </p:nvSpPr>
        <p:spPr>
          <a:xfrm>
            <a:off x="5974893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F4CA937-25F3-5D96-B9B5-6A45B129847B}"/>
              </a:ext>
            </a:extLst>
          </p:cNvPr>
          <p:cNvSpPr txBox="1">
            <a:spLocks/>
          </p:cNvSpPr>
          <p:nvPr/>
        </p:nvSpPr>
        <p:spPr>
          <a:xfrm>
            <a:off x="6065508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2F9B0EA-D219-F658-7AEB-E335DC9C1C36}"/>
              </a:ext>
            </a:extLst>
          </p:cNvPr>
          <p:cNvSpPr txBox="1"/>
          <p:nvPr/>
        </p:nvSpPr>
        <p:spPr>
          <a:xfrm>
            <a:off x="6097303" y="2623250"/>
            <a:ext cx="230533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18F63F8-117A-5F37-87B6-BCF751DF97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6427" y="1827211"/>
            <a:ext cx="287813" cy="366178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8D46CA2-02E3-2D32-8B08-8AB0B06F9D57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AEADBCA0-C2E0-3F78-F630-9C0207890C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041" y="971088"/>
            <a:ext cx="530206" cy="23427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AC7DEB3-9A6A-5AEF-08CB-65A3B322FD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393" y="1203646"/>
            <a:ext cx="530206" cy="23427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07FAD203-716C-1D72-2753-7EB204D87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99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DFF4EC-CDB8-A07B-81B5-678EADD4FBE1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rgbClr val="CCF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58C86A-CF46-45FE-7599-15943B52FA9C}"/>
              </a:ext>
            </a:extLst>
          </p:cNvPr>
          <p:cNvGrpSpPr/>
          <p:nvPr/>
        </p:nvGrpSpPr>
        <p:grpSpPr>
          <a:xfrm>
            <a:off x="445717" y="1331253"/>
            <a:ext cx="1550783" cy="3542912"/>
            <a:chOff x="445717" y="1331253"/>
            <a:chExt cx="1550783" cy="354291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E23CC87-550F-1D3C-CCAA-B7BF3E7A2FD5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9" name="Rectángulo redondeado 8">
                <a:extLst>
                  <a:ext uri="{FF2B5EF4-FFF2-40B4-BE49-F238E27FC236}">
                    <a16:creationId xmlns:a16="http://schemas.microsoft.com/office/drawing/2014/main" id="{1977E006-F282-56F1-1443-1E3DFD20C1D9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0D9EAF-B9CB-F4FB-DA94-F60C5337A13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8BB44342-A5D6-9B69-84D5-142F080B01C9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6A8EAC7-B13A-7318-8CF6-B9CD50F17807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CDA744-3030-39AF-02EC-7EDC605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C497BE85-B93E-3D43-8C1A-C3FBF9A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08" y="508624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Perfiles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A7465B8-2467-A46D-0494-965465498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919" y="1376315"/>
            <a:ext cx="900000" cy="900000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0F357688-9109-2D2C-6751-40D5AF535341}"/>
              </a:ext>
            </a:extLst>
          </p:cNvPr>
          <p:cNvGrpSpPr/>
          <p:nvPr/>
        </p:nvGrpSpPr>
        <p:grpSpPr>
          <a:xfrm>
            <a:off x="2435455" y="1331253"/>
            <a:ext cx="1550783" cy="3542912"/>
            <a:chOff x="445717" y="1331253"/>
            <a:chExt cx="1550783" cy="354291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8134B0E-144B-37DB-CB22-21F96314C3EC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30" name="Rectángulo redondeado 8">
                <a:extLst>
                  <a:ext uri="{FF2B5EF4-FFF2-40B4-BE49-F238E27FC236}">
                    <a16:creationId xmlns:a16="http://schemas.microsoft.com/office/drawing/2014/main" id="{1256C092-F364-6FC4-16FA-95E498AA167C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508629C-0603-0631-6491-4AE86FCC4C05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9E91CD8-4F90-A87B-73E7-3F31251BF146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7C7D5F2-671A-DC73-67E7-9DAB89A2FA11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00CA3A1-3E29-AD5A-F8E8-C7960EFAD165}"/>
              </a:ext>
            </a:extLst>
          </p:cNvPr>
          <p:cNvGrpSpPr/>
          <p:nvPr/>
        </p:nvGrpSpPr>
        <p:grpSpPr>
          <a:xfrm>
            <a:off x="4539436" y="1293562"/>
            <a:ext cx="1550783" cy="3542912"/>
            <a:chOff x="445717" y="1331253"/>
            <a:chExt cx="1550783" cy="354291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F24DD69C-8475-D7CD-0C30-EA6471E8B04E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47" name="Rectángulo redondeado 8">
                <a:extLst>
                  <a:ext uri="{FF2B5EF4-FFF2-40B4-BE49-F238E27FC236}">
                    <a16:creationId xmlns:a16="http://schemas.microsoft.com/office/drawing/2014/main" id="{B123DAD5-08CB-7305-F258-0CE44A7AE7B7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A692F6B-3A5E-B844-36AE-5EF722FA14DF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D792071B-B349-ABE3-F5B4-10E5DF176591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8F3D9F8-B350-3380-A7B5-C849BF8040F8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4DA1892-E940-B7C3-6B2D-0732ADD8E2BC}"/>
              </a:ext>
            </a:extLst>
          </p:cNvPr>
          <p:cNvGrpSpPr/>
          <p:nvPr/>
        </p:nvGrpSpPr>
        <p:grpSpPr>
          <a:xfrm>
            <a:off x="6680393" y="1257706"/>
            <a:ext cx="1550783" cy="3542912"/>
            <a:chOff x="445717" y="1331253"/>
            <a:chExt cx="1550783" cy="354291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D05E1FC-7BC5-FD25-6D0C-5AD2B6B79FD7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53" name="Rectángulo redondeado 8">
                <a:extLst>
                  <a:ext uri="{FF2B5EF4-FFF2-40B4-BE49-F238E27FC236}">
                    <a16:creationId xmlns:a16="http://schemas.microsoft.com/office/drawing/2014/main" id="{3A1D45C9-8761-47E2-D52F-26564C0BBB4B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9272F2A-40A4-AE9F-CEAA-38280F9634F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45B36A2A-40FF-63BC-05D8-6180C14D9F0C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A786DEDB-6E70-0525-0C3F-B6DFE28A23FD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09FF79-8EF7-21CF-25D8-B08B10CC0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657" y="1376315"/>
            <a:ext cx="900000" cy="90000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2DD5A06-D2C2-0DEC-C428-3A61A2FD0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168" y="1302889"/>
            <a:ext cx="900000" cy="900000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ACDA6A21-BDA1-7828-14F9-567A145722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7770" y="1341108"/>
            <a:ext cx="901736" cy="90000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80355A9-B852-A109-95F1-5AF45462D69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98E84EF7-6BFD-BA69-84F3-B21DC1E99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24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F825-D0E1-0D7E-D88F-600A70F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69272D-EA08-D775-600A-ADA910C25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92DBB2A7-AA68-3FE1-D9C1-1FB4DA1A8360}"/>
              </a:ext>
            </a:extLst>
          </p:cNvPr>
          <p:cNvSpPr txBox="1">
            <a:spLocks/>
          </p:cNvSpPr>
          <p:nvPr/>
        </p:nvSpPr>
        <p:spPr>
          <a:xfrm>
            <a:off x="1478112" y="41590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Cronograma Aproximado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BBE3EA3-1B90-0886-DF4E-468518B0703D}"/>
              </a:ext>
            </a:extLst>
          </p:cNvPr>
          <p:cNvGrpSpPr/>
          <p:nvPr/>
        </p:nvGrpSpPr>
        <p:grpSpPr>
          <a:xfrm>
            <a:off x="1002341" y="4398349"/>
            <a:ext cx="7139318" cy="668026"/>
            <a:chOff x="1000542" y="4045286"/>
            <a:chExt cx="7139318" cy="560457"/>
          </a:xfrm>
        </p:grpSpPr>
        <p:sp>
          <p:nvSpPr>
            <p:cNvPr id="4" name="Redondear rectángulo de esquina diagonal 14">
              <a:extLst>
                <a:ext uri="{FF2B5EF4-FFF2-40B4-BE49-F238E27FC236}">
                  <a16:creationId xmlns:a16="http://schemas.microsoft.com/office/drawing/2014/main" id="{1F19676D-2121-1DCD-BEEA-6B0952C2FD83}"/>
                </a:ext>
              </a:extLst>
            </p:cNvPr>
            <p:cNvSpPr/>
            <p:nvPr/>
          </p:nvSpPr>
          <p:spPr>
            <a:xfrm>
              <a:off x="1000542" y="4045286"/>
              <a:ext cx="7139318" cy="56045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2000" tIns="324000" rIns="72000" bIns="72000" rtlCol="0" anchor="ctr"/>
            <a:lstStyle/>
            <a:p>
              <a:r>
                <a:rPr lang="es-ES" sz="1100" i="1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* Proponemos un sprint 0 para realizar las reuniones iniciales – </a:t>
              </a:r>
              <a:r>
                <a:rPr lang="es-ES" sz="1100" i="1" dirty="0" err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Kickoff</a:t>
              </a:r>
              <a:r>
                <a:rPr lang="es-ES" sz="1100" i="1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y prepararnos para el inicio del proyecto..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4E26894-6207-D69F-F6B4-A77778081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815" y="4062426"/>
              <a:ext cx="349602" cy="274647"/>
            </a:xfrm>
            <a:prstGeom prst="rect">
              <a:avLst/>
            </a:prstGeom>
          </p:spPr>
        </p:pic>
      </p:grp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FED8D57-D154-F746-4B9F-FF96835040A0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>
            <a:extLst>
              <a:ext uri="{FF2B5EF4-FFF2-40B4-BE49-F238E27FC236}">
                <a16:creationId xmlns:a16="http://schemas.microsoft.com/office/drawing/2014/main" id="{70227D64-2B92-E2B3-C2F1-CBDA8F63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379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4158890" cy="708641"/>
            <a:chOff x="7269844" y="1511795"/>
            <a:chExt cx="415889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4158890" cy="708641"/>
            <a:chOff x="7269844" y="1511795"/>
            <a:chExt cx="415889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2"/>
            <a:ext cx="4158890" cy="708641"/>
            <a:chOff x="7269844" y="1511795"/>
            <a:chExt cx="415889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50"/>
            <a:ext cx="4158890" cy="708641"/>
            <a:chOff x="7269844" y="1511795"/>
            <a:chExt cx="415889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</a:t>
              </a:r>
              <a:r>
                <a:rPr lang="es-ES" sz="1200" i="1">
                  <a:solidFill>
                    <a:srgbClr val="333333"/>
                  </a:solidFill>
                  <a:ea typeface="Calibri"/>
                  <a:cs typeface="Calibri"/>
                </a:rPr>
                <a:t>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331" y="44491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14327" y="855730"/>
            <a:ext cx="8525887" cy="70864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r>
                <a:rPr lang="es-ES" sz="1200" i="1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ABF73B-428D-F894-7ADB-95AF13C310AA}"/>
              </a:ext>
            </a:extLst>
          </p:cNvPr>
          <p:cNvGrpSpPr/>
          <p:nvPr/>
        </p:nvGrpSpPr>
        <p:grpSpPr>
          <a:xfrm>
            <a:off x="227280" y="2205814"/>
            <a:ext cx="5878358" cy="355487"/>
            <a:chOff x="-204003" y="1930587"/>
            <a:chExt cx="5878358" cy="35548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68E168B-332C-9310-ABEC-7EAF7E89E27B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BEF93A-083B-ABA1-C0D0-6A7D3564F91C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0B98600-DB3E-EDC7-F51F-46A9E8BD08D1}"/>
              </a:ext>
            </a:extLst>
          </p:cNvPr>
          <p:cNvGrpSpPr/>
          <p:nvPr/>
        </p:nvGrpSpPr>
        <p:grpSpPr>
          <a:xfrm>
            <a:off x="227280" y="2607841"/>
            <a:ext cx="5878358" cy="355487"/>
            <a:chOff x="-204003" y="1930587"/>
            <a:chExt cx="5878358" cy="35548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9D72D67-4ACF-C0EB-7F4C-5B0827A003C7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67D93C-0BA8-E946-BD24-33F7D27CA5C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98122-4A9D-6509-4444-B53433F26EFC}"/>
              </a:ext>
            </a:extLst>
          </p:cNvPr>
          <p:cNvGrpSpPr/>
          <p:nvPr/>
        </p:nvGrpSpPr>
        <p:grpSpPr>
          <a:xfrm>
            <a:off x="227280" y="3009283"/>
            <a:ext cx="5884368" cy="398454"/>
            <a:chOff x="-204003" y="1930587"/>
            <a:chExt cx="5884368" cy="398454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4D1D6F3-D422-2BEA-3D35-F93479563641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DED962-1DF0-8C67-C008-9C3E2CFD7D52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9A1E106-105C-3E68-1E1D-879E309DCC2E}"/>
              </a:ext>
            </a:extLst>
          </p:cNvPr>
          <p:cNvGrpSpPr/>
          <p:nvPr/>
        </p:nvGrpSpPr>
        <p:grpSpPr>
          <a:xfrm>
            <a:off x="227280" y="3483716"/>
            <a:ext cx="5884368" cy="355487"/>
            <a:chOff x="-204003" y="1930587"/>
            <a:chExt cx="5884368" cy="355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6933317-4978-ADAD-ACA8-2EF49FC61682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0263F3C-A0EA-05D9-ED1F-92FFDC22ED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33AC1E3-20B7-B3A4-E516-B0D7D5896867}"/>
              </a:ext>
            </a:extLst>
          </p:cNvPr>
          <p:cNvGrpSpPr/>
          <p:nvPr/>
        </p:nvGrpSpPr>
        <p:grpSpPr>
          <a:xfrm>
            <a:off x="227280" y="3885158"/>
            <a:ext cx="5884368" cy="355487"/>
            <a:chOff x="-204003" y="1930587"/>
            <a:chExt cx="5884368" cy="355487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F0C6C7-175D-46E6-68FF-DEBE37E50F78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974C9A2-14A1-1EAF-1E99-CC51740C8B0B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234F398-F4B2-B404-F05C-6434B556EA2E}"/>
              </a:ext>
            </a:extLst>
          </p:cNvPr>
          <p:cNvGrpSpPr/>
          <p:nvPr/>
        </p:nvGrpSpPr>
        <p:grpSpPr>
          <a:xfrm>
            <a:off x="214327" y="4286599"/>
            <a:ext cx="5891312" cy="355487"/>
            <a:chOff x="-204003" y="1930587"/>
            <a:chExt cx="5882362" cy="355487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9EE9F8BF-97F3-5C98-52DB-D8AE3630F52D}"/>
                </a:ext>
              </a:extLst>
            </p:cNvPr>
            <p:cNvSpPr/>
            <p:nvPr/>
          </p:nvSpPr>
          <p:spPr>
            <a:xfrm>
              <a:off x="-132262" y="1930587"/>
              <a:ext cx="5810621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  <a:p>
              <a:endPara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B2DEE7D-5B5F-ABA2-4990-BDFAD341E224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6249118" y="1673727"/>
            <a:ext cx="2491095" cy="301431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6641933" y="1790661"/>
            <a:ext cx="1979946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6366850" y="2346597"/>
            <a:ext cx="225502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46885" y="1816136"/>
            <a:ext cx="295048" cy="29504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509374" y="1673727"/>
            <a:ext cx="5596263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rgbClr val="1D1B80"/>
                </a:solidFill>
                <a:latin typeface="Arial"/>
                <a:cs typeface="Calibri"/>
              </a:rPr>
              <a:t>Fuera del Alcance Técnico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5147" y="1699202"/>
            <a:ext cx="293408" cy="2950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Logotipo&#10;&#10;El contenido generado por IA puede ser incorrecto.">
            <a:extLst>
              <a:ext uri="{FF2B5EF4-FFF2-40B4-BE49-F238E27FC236}">
                <a16:creationId xmlns:a16="http://schemas.microsoft.com/office/drawing/2014/main" id="{7AFC3534-C427-9D98-FFC0-C82229BA2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08" y="4820691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E799F-F602-F52A-6D6D-95B133A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C903F64-EAA7-BB46-0E62-937768D762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562E29C-7488-D540-0CEE-3099B1E4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359" y="401837"/>
            <a:ext cx="2937281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Responsabilidades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8C2C76B-C74C-45D1-4557-A5D7DFC1B2E3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5D23F6C-033B-C66A-80D3-86FFD17BC739}"/>
              </a:ext>
            </a:extLst>
          </p:cNvPr>
          <p:cNvGrpSpPr/>
          <p:nvPr/>
        </p:nvGrpSpPr>
        <p:grpSpPr>
          <a:xfrm>
            <a:off x="1359206" y="2484639"/>
            <a:ext cx="2954417" cy="540103"/>
            <a:chOff x="774555" y="1621088"/>
            <a:chExt cx="2954417" cy="66498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6ECAC77-F200-F9FA-D28E-B091BD1D440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Garantizar la disponibilidad de cada uno de los recursos asignados al proyecto. 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CD306B7A-DE70-237C-6026-7D4C843E6B9F}"/>
                </a:ext>
              </a:extLst>
            </p:cNvPr>
            <p:cNvSpPr/>
            <p:nvPr/>
          </p:nvSpPr>
          <p:spPr>
            <a:xfrm>
              <a:off x="774555" y="1621089"/>
              <a:ext cx="61811" cy="66498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EFC27B4-116B-A2FC-D53C-E763C642DB03}"/>
              </a:ext>
            </a:extLst>
          </p:cNvPr>
          <p:cNvGrpSpPr/>
          <p:nvPr/>
        </p:nvGrpSpPr>
        <p:grpSpPr>
          <a:xfrm>
            <a:off x="1359206" y="1746291"/>
            <a:ext cx="2954417" cy="664986"/>
            <a:chOff x="774555" y="1621088"/>
            <a:chExt cx="2954417" cy="664986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88F495E8-0CE9-2A99-2C88-0C865F874FAB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Elaborar un plan de trabajo en AZURE DEVOPS con tareas y las fechas estimadas, de acuerdo con el tiempo total fijado en el contrato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54E67F8-E021-96E4-D60A-11AD65452511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3250AD5-118C-9FDE-D513-A2CEF69199E9}"/>
              </a:ext>
            </a:extLst>
          </p:cNvPr>
          <p:cNvGrpSpPr/>
          <p:nvPr/>
        </p:nvGrpSpPr>
        <p:grpSpPr>
          <a:xfrm>
            <a:off x="1359206" y="3098104"/>
            <a:ext cx="2954417" cy="924261"/>
            <a:chOff x="774555" y="1844199"/>
            <a:chExt cx="2954417" cy="537387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177452CA-022F-0641-A4CD-066792985D70}"/>
                </a:ext>
              </a:extLst>
            </p:cNvPr>
            <p:cNvSpPr/>
            <p:nvPr/>
          </p:nvSpPr>
          <p:spPr>
            <a:xfrm>
              <a:off x="851229" y="1844200"/>
              <a:ext cx="2877743" cy="537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, en base a los insumos entregados por           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          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y para el correcto desarrollo del proyecto se elaborará y administrará la matriz de riesgos y recomendará alternativas de mitigación de riesgo. 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23860C8-46D0-E41E-015E-C40111DA5865}"/>
                </a:ext>
              </a:extLst>
            </p:cNvPr>
            <p:cNvSpPr/>
            <p:nvPr/>
          </p:nvSpPr>
          <p:spPr>
            <a:xfrm>
              <a:off x="774555" y="1844199"/>
              <a:ext cx="71739" cy="50589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5F005D6-92F7-450F-BB13-53931F1E82CD}"/>
              </a:ext>
            </a:extLst>
          </p:cNvPr>
          <p:cNvGrpSpPr/>
          <p:nvPr/>
        </p:nvGrpSpPr>
        <p:grpSpPr>
          <a:xfrm>
            <a:off x="1359206" y="4076907"/>
            <a:ext cx="2954417" cy="664986"/>
            <a:chOff x="774555" y="1621088"/>
            <a:chExt cx="2954417" cy="664986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82CDBA-EE53-8AAE-5251-665913CF8B3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Las entregas de parte de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se deben realizar técnicamente a las personas definidas por         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mediante una sesión de entendimiento.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57E65FB7-074F-B2C5-C370-BDE7B3409CE2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735E9B57-E339-B98E-DB96-A2076B7FC669}"/>
              </a:ext>
            </a:extLst>
          </p:cNvPr>
          <p:cNvGrpSpPr/>
          <p:nvPr/>
        </p:nvGrpSpPr>
        <p:grpSpPr>
          <a:xfrm>
            <a:off x="5137113" y="1714749"/>
            <a:ext cx="2954417" cy="1076384"/>
            <a:chOff x="774555" y="1621088"/>
            <a:chExt cx="2954417" cy="877257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9EC7EB7-72F0-65AC-1F74-633940729E83}"/>
                </a:ext>
              </a:extLst>
            </p:cNvPr>
            <p:cNvSpPr/>
            <p:nvPr/>
          </p:nvSpPr>
          <p:spPr>
            <a:xfrm>
              <a:off x="851229" y="1621088"/>
              <a:ext cx="2877743" cy="877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Una vez terminado el desarrollo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notificará formalmente, para que	                      efectúe pruebas, si transcurridos quince (15) días calendario no se recibe ninguna notificación del proceso de pruebas,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dará por entregado a satisfacción el producto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2FCE3A72-8B96-988B-A2C5-73D740FF484C}"/>
                </a:ext>
              </a:extLst>
            </p:cNvPr>
            <p:cNvSpPr/>
            <p:nvPr/>
          </p:nvSpPr>
          <p:spPr>
            <a:xfrm>
              <a:off x="774555" y="1621089"/>
              <a:ext cx="71740" cy="87725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F0AD769-6F37-2A7A-C7D4-3398E92D2B04}"/>
              </a:ext>
            </a:extLst>
          </p:cNvPr>
          <p:cNvGrpSpPr/>
          <p:nvPr/>
        </p:nvGrpSpPr>
        <p:grpSpPr>
          <a:xfrm>
            <a:off x="5137113" y="2849826"/>
            <a:ext cx="2954417" cy="1227710"/>
            <a:chOff x="774555" y="1621088"/>
            <a:chExt cx="2954417" cy="76433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D9095CD8-3B1C-7CBB-6912-D4E4614B41B5}"/>
                </a:ext>
              </a:extLst>
            </p:cNvPr>
            <p:cNvSpPr/>
            <p:nvPr/>
          </p:nvSpPr>
          <p:spPr>
            <a:xfrm>
              <a:off x="851229" y="1621088"/>
              <a:ext cx="2877743" cy="764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No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podrá contratar directa o indirectamente al personal de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para la realización de alguna labor relacionada, por un término no menor de dos (2) años después de la terminación del proyecto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EFE947B2-6C19-B904-5921-0234E71BF118}"/>
                </a:ext>
              </a:extLst>
            </p:cNvPr>
            <p:cNvSpPr/>
            <p:nvPr/>
          </p:nvSpPr>
          <p:spPr>
            <a:xfrm>
              <a:off x="774555" y="1621089"/>
              <a:ext cx="71740" cy="76433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51D1625-7F02-4D7E-7378-A6647BFFADD4}"/>
              </a:ext>
            </a:extLst>
          </p:cNvPr>
          <p:cNvGrpSpPr/>
          <p:nvPr/>
        </p:nvGrpSpPr>
        <p:grpSpPr>
          <a:xfrm>
            <a:off x="5137113" y="4102422"/>
            <a:ext cx="2954417" cy="664986"/>
            <a:chOff x="774555" y="1621088"/>
            <a:chExt cx="2954417" cy="664986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5448D2A5-2218-2BED-36F6-6CC3856E2A34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Será responsable de informar oficialmente a través de la Gerencia del Proyecto, los cambios o ajustes a implementar.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3D93D117-1C1D-FFE8-6F34-C73DD641357A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B5FCCCB3-4F8E-EA02-EA96-80697B438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791" y="1953369"/>
            <a:ext cx="352557" cy="15578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870C21-0E4F-6C85-DF6F-0C8904946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472" y="3268394"/>
            <a:ext cx="352557" cy="15578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48BE4E7-2561-AA48-B3CF-3594D1639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029" y="4389518"/>
            <a:ext cx="352557" cy="15578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A6B6413-E724-B2CB-A8BB-463516D30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640" y="1086617"/>
            <a:ext cx="1240691" cy="548212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06242A2-330E-FF75-53A5-4391C95FF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BC9E1982-2546-B595-9D02-AE3E2B29A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036" y="1086617"/>
            <a:ext cx="1466965" cy="4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75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D92A-EC14-3A58-2E27-69907DDC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865DE4-1DEB-8163-86F3-158C46DB9D2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40645AC-7D69-B9F7-79A5-FD738571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314" y="492237"/>
            <a:ext cx="3199301" cy="383183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CO" sz="1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Metodología Ágil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26E790A-0B26-0580-BABA-CFC2A4D7841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9EC3E1B-C801-4EC0-2102-B6E8A06AB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3221974"/>
            <a:ext cx="1293086" cy="10692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FE6955-77F7-BD1B-60B4-2F500C93C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3221974"/>
            <a:ext cx="1388340" cy="10692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345CB4-5FF2-EA52-90C7-4F1DC2B1E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3221974"/>
            <a:ext cx="1390721" cy="10692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E46AF2-BAAE-5D2D-B426-9046EEB7A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2" y="2145218"/>
            <a:ext cx="1293086" cy="1162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75479F-5666-7DBD-D823-CD8DDFFE52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03" y="2145218"/>
            <a:ext cx="1390721" cy="10692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240A8B2-534B-4749-2BAD-252FC36F20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604" y="2144656"/>
            <a:ext cx="1390721" cy="10692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64F372-A059-CDCF-D89E-73707BF42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605" y="2144746"/>
            <a:ext cx="1390721" cy="10692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88A80F0-564A-4F3E-3D56-EDFC4CAC1C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15" y="2142888"/>
            <a:ext cx="1390721" cy="10692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22CD5E1-9607-3FC1-AEB5-9F3DFDBB51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60" y="3348739"/>
            <a:ext cx="471512" cy="50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687E87-9495-07A8-FFD6-EE1CFCE344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18" y="3435107"/>
            <a:ext cx="588199" cy="3214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4D7ABB-7692-6A8B-0CB7-87B238E78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92" y="3393985"/>
            <a:ext cx="566767" cy="4572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3674D03-7931-3774-4955-5B634D09B8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31" y="2280407"/>
            <a:ext cx="552479" cy="5834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B3DC3C6-B7F4-AEF8-2EB4-114675DDF1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106" y="2239792"/>
            <a:ext cx="616775" cy="64058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6CB99DD-112E-390F-1E65-222613F64DD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22" y="2297674"/>
            <a:ext cx="538190" cy="56914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10E765-0F8F-AA6E-0DA3-4DAAB886F0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704" y="2278949"/>
            <a:ext cx="588199" cy="53342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56925A-8F80-6E06-9D68-3FF8D96E5C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41" y="2243230"/>
            <a:ext cx="588199" cy="60486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17CD321-A047-A7B8-008E-68B876827DB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8" y="1067339"/>
            <a:ext cx="1295467" cy="116211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C8B844-8BE2-23AE-1D88-ED98800198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3" y="1071794"/>
            <a:ext cx="1390721" cy="106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50387F4-1B3E-11C5-17C9-2DF2F73A4FE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1067339"/>
            <a:ext cx="1388340" cy="10692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620A558-BB82-D617-9E78-CBCCAE230A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1067339"/>
            <a:ext cx="1388340" cy="10692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772B2C1-6FE7-3937-9153-0F2C3ACA824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1068463"/>
            <a:ext cx="1390721" cy="106923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21A2FE4-22CD-DFB0-AAA8-C7AD80872E8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041" y="1263483"/>
            <a:ext cx="447698" cy="47389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4487133-A236-4AFF-DFD3-DF476474524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98" y="1269062"/>
            <a:ext cx="433410" cy="50008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81AE941-A287-17A3-917E-93ECE5A16B8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648" y="1239994"/>
            <a:ext cx="578674" cy="4715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B3FCC1C-E18E-FA64-7DB7-E674ED38470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67" y="1258720"/>
            <a:ext cx="488181" cy="47865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B352378-5EDB-C0C4-7EAB-C743313D118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710" y="1239994"/>
            <a:ext cx="466749" cy="454842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D549D440-15C6-A35F-4623-1484ECB8AB47}"/>
              </a:ext>
            </a:extLst>
          </p:cNvPr>
          <p:cNvSpPr txBox="1"/>
          <p:nvPr/>
        </p:nvSpPr>
        <p:spPr>
          <a:xfrm>
            <a:off x="2374708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DEFINICIÓN DE LA</a:t>
            </a:r>
            <a:br>
              <a:rPr lang="es-CO" sz="675"/>
            </a:br>
            <a:r>
              <a:rPr lang="es-CO" sz="675"/>
              <a:t>VISIÓN DEL PROYECTO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9F9514D-1B33-7D28-05AE-98F52E72EE5E}"/>
              </a:ext>
            </a:extLst>
          </p:cNvPr>
          <p:cNvSpPr txBox="1"/>
          <p:nvPr/>
        </p:nvSpPr>
        <p:spPr>
          <a:xfrm>
            <a:off x="368975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CONFIRMACIÓN</a:t>
            </a:r>
            <a:br>
              <a:rPr lang="es-CO" sz="675"/>
            </a:br>
            <a:r>
              <a:rPr lang="es-CO" sz="675"/>
              <a:t>EQUIPO SCRUM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528DF85-6817-D5C0-DF75-E02A5B220CBE}"/>
              </a:ext>
            </a:extLst>
          </p:cNvPr>
          <p:cNvSpPr txBox="1"/>
          <p:nvPr/>
        </p:nvSpPr>
        <p:spPr>
          <a:xfrm>
            <a:off x="4975590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CONSTRUCCIÓN DE</a:t>
            </a:r>
          </a:p>
          <a:p>
            <a:pPr algn="ctr"/>
            <a:r>
              <a:rPr lang="es-CO" sz="675"/>
              <a:t>PRODUCT BACKLOG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FF5D0A8-A321-9B35-3B81-B6BCAF507D51}"/>
              </a:ext>
            </a:extLst>
          </p:cNvPr>
          <p:cNvSpPr txBox="1"/>
          <p:nvPr/>
        </p:nvSpPr>
        <p:spPr>
          <a:xfrm>
            <a:off x="627419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PRIORIZACIÓN DE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PRODUCT BACKLOG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2EAAA7-C7A3-D99A-FCD5-43821679B9E5}"/>
              </a:ext>
            </a:extLst>
          </p:cNvPr>
          <p:cNvSpPr txBox="1"/>
          <p:nvPr/>
        </p:nvSpPr>
        <p:spPr>
          <a:xfrm>
            <a:off x="7517355" y="1778715"/>
            <a:ext cx="12549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DEFINICIÓN DE ARQUITECTURA DE PRODUCTO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9684C6-69DD-14BB-EE94-33379A904CE3}"/>
              </a:ext>
            </a:extLst>
          </p:cNvPr>
          <p:cNvSpPr txBox="1"/>
          <p:nvPr/>
        </p:nvSpPr>
        <p:spPr>
          <a:xfrm>
            <a:off x="2372251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RETROSPECTIVA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65F1722-E686-892A-9B14-0C3AE8CDBE72}"/>
              </a:ext>
            </a:extLst>
          </p:cNvPr>
          <p:cNvSpPr txBox="1"/>
          <p:nvPr/>
        </p:nvSpPr>
        <p:spPr>
          <a:xfrm>
            <a:off x="368730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REVISIÓN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5C5A06E-AC18-6AF1-189D-12731A704A5A}"/>
              </a:ext>
            </a:extLst>
          </p:cNvPr>
          <p:cNvSpPr txBox="1"/>
          <p:nvPr/>
        </p:nvSpPr>
        <p:spPr>
          <a:xfrm>
            <a:off x="4973133" y="2877830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SPRINT Y DAILY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0579C2-303C-EC48-8CA1-7A2473157276}"/>
              </a:ext>
            </a:extLst>
          </p:cNvPr>
          <p:cNvSpPr txBox="1"/>
          <p:nvPr/>
        </p:nvSpPr>
        <p:spPr>
          <a:xfrm>
            <a:off x="627174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PLANEACIÓN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AAC3731-7E1B-AC2D-24B6-1F38E0C7997A}"/>
              </a:ext>
            </a:extLst>
          </p:cNvPr>
          <p:cNvSpPr txBox="1"/>
          <p:nvPr/>
        </p:nvSpPr>
        <p:spPr>
          <a:xfrm>
            <a:off x="7514898" y="2877830"/>
            <a:ext cx="12549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PRIORIZACIÓN DE</a:t>
            </a:r>
          </a:p>
          <a:p>
            <a:pPr algn="ctr"/>
            <a:r>
              <a:rPr lang="es-CO" sz="675"/>
              <a:t>HISTORIAS DE USUARIO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6191332-61C3-5218-3053-CF8CA0737248}"/>
              </a:ext>
            </a:extLst>
          </p:cNvPr>
          <p:cNvSpPr txBox="1"/>
          <p:nvPr/>
        </p:nvSpPr>
        <p:spPr>
          <a:xfrm>
            <a:off x="2338784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ENVÍO DE ENTREGABLES</a:t>
            </a:r>
            <a:br>
              <a:rPr lang="es-CO" sz="675">
                <a:solidFill>
                  <a:schemeClr val="bg1"/>
                </a:solidFill>
              </a:rPr>
            </a:br>
            <a:r>
              <a:rPr lang="es-CO" sz="675">
                <a:solidFill>
                  <a:schemeClr val="bg1"/>
                </a:solidFill>
              </a:rPr>
              <a:t>AL CLIENTE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592D90F-4060-CD00-000B-31AA96C80D8E}"/>
              </a:ext>
            </a:extLst>
          </p:cNvPr>
          <p:cNvSpPr txBox="1"/>
          <p:nvPr/>
        </p:nvSpPr>
        <p:spPr>
          <a:xfrm>
            <a:off x="3653833" y="3918352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CIERRE DEL PROYECTO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806423-CF2C-B329-F184-B0E00BC6A590}"/>
              </a:ext>
            </a:extLst>
          </p:cNvPr>
          <p:cNvSpPr txBox="1"/>
          <p:nvPr/>
        </p:nvSpPr>
        <p:spPr>
          <a:xfrm>
            <a:off x="4939666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RETROSPECTIVA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DEL PROYECTO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89B3DA-42EB-89E1-66FD-C23AF2C5C541}"/>
              </a:ext>
            </a:extLst>
          </p:cNvPr>
          <p:cNvSpPr txBox="1"/>
          <p:nvPr/>
        </p:nvSpPr>
        <p:spPr>
          <a:xfrm>
            <a:off x="2320123" y="758543"/>
            <a:ext cx="20945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b="1">
                <a:solidFill>
                  <a:srgbClr val="333333"/>
                </a:solidFill>
              </a:rPr>
              <a:t>CÓMO LO REALIZAMOS…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A5AA5A-10A1-48F7-FFD8-09B23D23B5B1}"/>
              </a:ext>
            </a:extLst>
          </p:cNvPr>
          <p:cNvSpPr txBox="1"/>
          <p:nvPr/>
        </p:nvSpPr>
        <p:spPr>
          <a:xfrm>
            <a:off x="6272164" y="3318850"/>
            <a:ext cx="2518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900">
                <a:solidFill>
                  <a:srgbClr val="333333"/>
                </a:solidFill>
              </a:rPr>
              <a:t>Nuestro modelo permite alcanzar resultados eficientes y evolutivos en intervalos cortos de tiempo, orientados a la necesidad del negocio y expectativa de nuestro cliente.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6E42D0E-E159-521E-2779-54AB102CB37A}"/>
              </a:ext>
            </a:extLst>
          </p:cNvPr>
          <p:cNvSpPr txBox="1"/>
          <p:nvPr/>
        </p:nvSpPr>
        <p:spPr>
          <a:xfrm>
            <a:off x="304245" y="803790"/>
            <a:ext cx="18980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13" b="1">
                <a:solidFill>
                  <a:srgbClr val="333333"/>
                </a:solidFill>
              </a:rPr>
              <a:t>LOS PROTAGONISTAS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0DFF4B2-BD6F-0D4A-9FDB-263DD146EF52}"/>
              </a:ext>
            </a:extLst>
          </p:cNvPr>
          <p:cNvSpPr/>
          <p:nvPr/>
        </p:nvSpPr>
        <p:spPr>
          <a:xfrm>
            <a:off x="444432" y="1165715"/>
            <a:ext cx="1571533" cy="1111100"/>
          </a:xfrm>
          <a:prstGeom prst="rect">
            <a:avLst/>
          </a:prstGeom>
          <a:gradFill flip="none" rotWithShape="1">
            <a:gsLst>
              <a:gs pos="0">
                <a:srgbClr val="0E8B27"/>
              </a:gs>
              <a:gs pos="100000">
                <a:srgbClr val="09B6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02C11773-1009-57E6-BB8B-750F4B1EB20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1" y="1237846"/>
            <a:ext cx="733463" cy="966837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631A52B9-ABF2-95A0-62D1-D7B1D8681096}"/>
              </a:ext>
            </a:extLst>
          </p:cNvPr>
          <p:cNvSpPr/>
          <p:nvPr/>
        </p:nvSpPr>
        <p:spPr>
          <a:xfrm>
            <a:off x="448242" y="1990721"/>
            <a:ext cx="1560029" cy="276999"/>
          </a:xfrm>
          <a:prstGeom prst="rect">
            <a:avLst/>
          </a:prstGeom>
          <a:solidFill>
            <a:srgbClr val="689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C18E4A3-896E-51E3-E634-7AF437BFFCF2}"/>
              </a:ext>
            </a:extLst>
          </p:cNvPr>
          <p:cNvSpPr txBox="1"/>
          <p:nvPr/>
        </p:nvSpPr>
        <p:spPr>
          <a:xfrm>
            <a:off x="638285" y="2013804"/>
            <a:ext cx="11876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Scrum Máster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FFA7F464-0333-1A67-FDDE-FDD70148F0FC}"/>
              </a:ext>
            </a:extLst>
          </p:cNvPr>
          <p:cNvSpPr/>
          <p:nvPr/>
        </p:nvSpPr>
        <p:spPr>
          <a:xfrm>
            <a:off x="410682" y="2466481"/>
            <a:ext cx="1623662" cy="997606"/>
          </a:xfrm>
          <a:prstGeom prst="roundRect">
            <a:avLst/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1A932EAD-1353-EE88-3871-C6F15D0F5776}"/>
              </a:ext>
            </a:extLst>
          </p:cNvPr>
          <p:cNvSpPr/>
          <p:nvPr/>
        </p:nvSpPr>
        <p:spPr>
          <a:xfrm>
            <a:off x="409609" y="2466481"/>
            <a:ext cx="1623662" cy="2201715"/>
          </a:xfrm>
          <a:prstGeom prst="roundRect">
            <a:avLst>
              <a:gd name="adj" fmla="val 10747"/>
            </a:avLst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479E32-F72E-16F2-8CC3-82598E4CDF8A}"/>
              </a:ext>
            </a:extLst>
          </p:cNvPr>
          <p:cNvSpPr txBox="1"/>
          <p:nvPr/>
        </p:nvSpPr>
        <p:spPr>
          <a:xfrm>
            <a:off x="948771" y="2374157"/>
            <a:ext cx="641572" cy="230832"/>
          </a:xfrm>
          <a:prstGeom prst="rect">
            <a:avLst/>
          </a:prstGeom>
          <a:solidFill>
            <a:srgbClr val="EBEBEB"/>
          </a:solidFill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900" b="1">
                <a:solidFill>
                  <a:srgbClr val="182077"/>
                </a:solidFill>
              </a:rPr>
              <a:t>CLIENTE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7733D1A-A31E-651D-FA3F-A4AC88E75EC2}"/>
              </a:ext>
            </a:extLst>
          </p:cNvPr>
          <p:cNvSpPr/>
          <p:nvPr/>
        </p:nvSpPr>
        <p:spPr>
          <a:xfrm>
            <a:off x="493351" y="2605214"/>
            <a:ext cx="1473581" cy="824743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8208D8EF-FE7B-4841-8C9C-66FE8BF603D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4" y="2747697"/>
            <a:ext cx="812048" cy="769184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D36FA257-ED11-5851-E157-1C6554EB5C10}"/>
              </a:ext>
            </a:extLst>
          </p:cNvPr>
          <p:cNvSpPr/>
          <p:nvPr/>
        </p:nvSpPr>
        <p:spPr>
          <a:xfrm>
            <a:off x="497161" y="338104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194B27E-4D3E-CB04-2C8B-A69CE5BF86F5}"/>
              </a:ext>
            </a:extLst>
          </p:cNvPr>
          <p:cNvSpPr txBox="1"/>
          <p:nvPr/>
        </p:nvSpPr>
        <p:spPr>
          <a:xfrm>
            <a:off x="687205" y="3382361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Product Owner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821CF90-65B7-E456-E402-3A84ADB40F64}"/>
              </a:ext>
            </a:extLst>
          </p:cNvPr>
          <p:cNvSpPr/>
          <p:nvPr/>
        </p:nvSpPr>
        <p:spPr>
          <a:xfrm>
            <a:off x="486373" y="3765960"/>
            <a:ext cx="1473581" cy="796847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E687133-90BF-1C2A-C270-9C764FFA26B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4" y="3837111"/>
            <a:ext cx="897778" cy="857294"/>
          </a:xfrm>
          <a:prstGeom prst="rect">
            <a:avLst/>
          </a:prstGeom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DECD4815-107D-FD7F-C32A-A797AEE44E46}"/>
              </a:ext>
            </a:extLst>
          </p:cNvPr>
          <p:cNvSpPr/>
          <p:nvPr/>
        </p:nvSpPr>
        <p:spPr>
          <a:xfrm>
            <a:off x="490183" y="451389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D9B644-0068-47FF-9107-56CB40D98044}"/>
              </a:ext>
            </a:extLst>
          </p:cNvPr>
          <p:cNvSpPr txBox="1"/>
          <p:nvPr/>
        </p:nvSpPr>
        <p:spPr>
          <a:xfrm>
            <a:off x="680227" y="4515212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Stakeholders</a:t>
            </a:r>
          </a:p>
        </p:txBody>
      </p:sp>
      <p:sp>
        <p:nvSpPr>
          <p:cNvPr id="67" name="Redondear rectángulo de esquina diagonal 14">
            <a:extLst>
              <a:ext uri="{FF2B5EF4-FFF2-40B4-BE49-F238E27FC236}">
                <a16:creationId xmlns:a16="http://schemas.microsoft.com/office/drawing/2014/main" id="{7DCC8C0C-D75A-79FB-A6F9-49E6BA7E1B23}"/>
              </a:ext>
            </a:extLst>
          </p:cNvPr>
          <p:cNvSpPr/>
          <p:nvPr/>
        </p:nvSpPr>
        <p:spPr>
          <a:xfrm>
            <a:off x="2212962" y="4331747"/>
            <a:ext cx="6879431" cy="701219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metodología de trabajo manejada será un esquema flexible debido a que durante la ejecución del proyecto el usuario final puede requerir incorporar alguna funcionalidad no detallada por parte de </a:t>
            </a:r>
            <a:r>
              <a:rPr lang="es-ES" sz="1050" i="1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                     </a:t>
            </a:r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498C5701-C519-48F1-1E10-A9EEB8B4F4D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34401" y="4520637"/>
            <a:ext cx="323437" cy="323437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5D6DF6CA-03D8-787B-7B70-581709AE3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87114" y="1566219"/>
            <a:ext cx="628329" cy="15411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58D5831-88BC-1930-1C50-1FE621E29407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72683" y="4653200"/>
            <a:ext cx="411715" cy="181921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F8BD5501-91CD-1E4D-C1FB-0B3860D7E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829" y="173076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443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Cargo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xxxxxxxxxx@xxxxxxxxxxxxxxxxxx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</a:t>
            </a:r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3F9BC0B-A811-71C3-3199-32A210023EF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06203" y="3469385"/>
            <a:ext cx="1251217" cy="5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61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4CC0-F327-87C4-D30E-E96FD22C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D18779-30B3-9298-9B98-2282D4316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711B7C6-878F-2336-44B1-280794A9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 fontScale="90000"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Oferta Económica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6FAEC2C-8A39-3451-2DFE-123AE0E86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14D73C5F-8DCF-70C9-9AB0-C6C055B8CC1E}"/>
              </a:ext>
            </a:extLst>
          </p:cNvPr>
          <p:cNvSpPr/>
          <p:nvPr/>
        </p:nvSpPr>
        <p:spPr>
          <a:xfrm>
            <a:off x="2276408" y="4352148"/>
            <a:ext cx="4715610" cy="640340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76000" tIns="0" rIns="7200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*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xxxxxxxxxxx</a:t>
            </a:r>
            <a:endParaRPr lang="es-ES" sz="1050" i="1" dirty="0">
              <a:solidFill>
                <a:srgbClr val="333333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53FA23-FA74-0871-41D1-5DDC3A7E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54" y="4510599"/>
            <a:ext cx="323437" cy="32343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1F55B43-D5EC-CBE7-C74A-B6F584E1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253280"/>
              </p:ext>
            </p:extLst>
          </p:nvPr>
        </p:nvGraphicFramePr>
        <p:xfrm>
          <a:off x="2958839" y="1652792"/>
          <a:ext cx="5753100" cy="20397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6856">
                  <a:extLst>
                    <a:ext uri="{9D8B030D-6E8A-4147-A177-3AD203B41FA5}">
                      <a16:colId xmlns:a16="http://schemas.microsoft.com/office/drawing/2014/main" val="755978740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439954493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3656290198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1137005257"/>
                    </a:ext>
                  </a:extLst>
                </a:gridCol>
                <a:gridCol w="1166587">
                  <a:extLst>
                    <a:ext uri="{9D8B030D-6E8A-4147-A177-3AD203B41FA5}">
                      <a16:colId xmlns:a16="http://schemas.microsoft.com/office/drawing/2014/main" val="560952452"/>
                    </a:ext>
                  </a:extLst>
                </a:gridCol>
              </a:tblGrid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rgbClr val="333333"/>
                          </a:solidFill>
                          <a:latin typeface="+mn-lt"/>
                        </a:rPr>
                        <a:t>Perfil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O" sz="1000" b="0" dirty="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n-US" dirty="0" err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197989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8793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97860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40794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99601"/>
                  </a:ext>
                </a:extLst>
              </a:tr>
              <a:tr h="339953"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Total</a:t>
                      </a:r>
                      <a:endParaRPr lang="es-CO" sz="1000" b="1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000" b="1">
                        <a:solidFill>
                          <a:srgbClr val="333333"/>
                        </a:solidFill>
                        <a:latin typeface="Avenir Book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err="1">
                          <a:solidFill>
                            <a:srgbClr val="333333"/>
                          </a:solidFill>
                          <a:latin typeface="+mn-lt"/>
                        </a:rPr>
                        <a:t>xxx</a:t>
                      </a:r>
                      <a:endParaRPr lang="es-CO" sz="1000" b="1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17497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A81D4AD-AB02-4560-5EF0-D22FBCD0EF26}"/>
              </a:ext>
            </a:extLst>
          </p:cNvPr>
          <p:cNvSpPr/>
          <p:nvPr/>
        </p:nvSpPr>
        <p:spPr>
          <a:xfrm>
            <a:off x="2958838" y="1261153"/>
            <a:ext cx="1867217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Perfiles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11FDB9B-ED05-9660-0652-987327A2984B}"/>
              </a:ext>
            </a:extLst>
          </p:cNvPr>
          <p:cNvSpPr/>
          <p:nvPr/>
        </p:nvSpPr>
        <p:spPr>
          <a:xfrm>
            <a:off x="4840315" y="1261152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Cantidad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FD72852-DDC4-4631-2342-9D063FA5DCB3}"/>
              </a:ext>
            </a:extLst>
          </p:cNvPr>
          <p:cNvSpPr/>
          <p:nvPr/>
        </p:nvSpPr>
        <p:spPr>
          <a:xfrm>
            <a:off x="5714216" y="1261151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Horas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5ACF0AD-7780-4C05-8F40-946E0AF3B533}"/>
              </a:ext>
            </a:extLst>
          </p:cNvPr>
          <p:cNvSpPr/>
          <p:nvPr/>
        </p:nvSpPr>
        <p:spPr>
          <a:xfrm>
            <a:off x="6577499" y="1257548"/>
            <a:ext cx="953339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Tarifa</a:t>
            </a:r>
            <a:endParaRPr lang="es-CO" sz="1200" b="1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E6D397-C1B7-38BC-70CB-59AC01267136}"/>
              </a:ext>
            </a:extLst>
          </p:cNvPr>
          <p:cNvSpPr/>
          <p:nvPr/>
        </p:nvSpPr>
        <p:spPr>
          <a:xfrm>
            <a:off x="7556135" y="1257547"/>
            <a:ext cx="115580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Valor</a:t>
            </a:r>
            <a:endParaRPr lang="es-CO" sz="1200" b="1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CDCF3D-45F4-CE4D-7172-6714684D6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5940" y="3703648"/>
            <a:ext cx="594748" cy="60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6FB7-E27F-6683-FE60-2A9F5E2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5717C53C-7155-A79C-CA3A-DBB8C96A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8263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9F867E2-2F60-44B3-BFD6-793848FB4CBB}"/>
              </a:ext>
            </a:extLst>
          </p:cNvPr>
          <p:cNvSpPr>
            <a:spLocks noChangeAspect="1"/>
          </p:cNvSpPr>
          <p:nvPr/>
        </p:nvSpPr>
        <p:spPr>
          <a:xfrm>
            <a:off x="1127484" y="-892252"/>
            <a:ext cx="6910903" cy="6910903"/>
          </a:xfrm>
          <a:prstGeom prst="ellipse">
            <a:avLst/>
          </a:prstGeom>
          <a:solidFill>
            <a:srgbClr val="CDF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8F23BE5C-BE5E-2D97-8D86-14311C0EBE8E}"/>
              </a:ext>
            </a:extLst>
          </p:cNvPr>
          <p:cNvSpPr txBox="1">
            <a:spLocks/>
          </p:cNvSpPr>
          <p:nvPr/>
        </p:nvSpPr>
        <p:spPr>
          <a:xfrm>
            <a:off x="2029427" y="3908715"/>
            <a:ext cx="5085146" cy="446507"/>
          </a:xfrm>
          <a:prstGeom prst="rect">
            <a:avLst/>
          </a:prstGeom>
        </p:spPr>
        <p:txBody>
          <a:bodyPr vert="horz" lIns="68521" tIns="34260" rIns="68521" bIns="3426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Construyamos juntos </a:t>
            </a:r>
            <a:r>
              <a:rPr lang="es-CO" sz="1199" i="1">
                <a:solidFill>
                  <a:srgbClr val="145F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mejor solución para tu equipo</a:t>
            </a:r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7FF1AA9-8729-5E89-5AC1-FB189DA89608}"/>
              </a:ext>
            </a:extLst>
          </p:cNvPr>
          <p:cNvSpPr txBox="1">
            <a:spLocks/>
          </p:cNvSpPr>
          <p:nvPr/>
        </p:nvSpPr>
        <p:spPr>
          <a:xfrm>
            <a:off x="1596738" y="147514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¿Qué opinas de esta propuesta?</a:t>
            </a:r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A2B113FE-0B85-A011-23B5-F0FF6CB13F4D}"/>
              </a:ext>
            </a:extLst>
          </p:cNvPr>
          <p:cNvSpPr txBox="1">
            <a:spLocks/>
          </p:cNvSpPr>
          <p:nvPr/>
        </p:nvSpPr>
        <p:spPr>
          <a:xfrm>
            <a:off x="1596738" y="185117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Danos tu </a:t>
            </a:r>
            <a:r>
              <a:rPr lang="es-CO" sz="140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solo </a:t>
            </a:r>
            <a:r>
              <a:rPr lang="es-CO" sz="1400" b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segundos</a:t>
            </a:r>
            <a:endParaRPr lang="es-CO" sz="140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171F0EE-BECA-CA40-3A9B-9842E999EC4D}"/>
              </a:ext>
            </a:extLst>
          </p:cNvPr>
          <p:cNvGrpSpPr>
            <a:grpSpLocks noChangeAspect="1"/>
          </p:cNvGrpSpPr>
          <p:nvPr/>
        </p:nvGrpSpPr>
        <p:grpSpPr>
          <a:xfrm>
            <a:off x="3029847" y="2602507"/>
            <a:ext cx="3172407" cy="751187"/>
            <a:chOff x="2803426" y="2661220"/>
            <a:chExt cx="3489648" cy="826306"/>
          </a:xfrm>
        </p:grpSpPr>
        <p:sp>
          <p:nvSpPr>
            <p:cNvPr id="13" name="Rectángulo redondeado 11">
              <a:hlinkClick r:id="rId4"/>
              <a:extLst>
                <a:ext uri="{FF2B5EF4-FFF2-40B4-BE49-F238E27FC236}">
                  <a16:creationId xmlns:a16="http://schemas.microsoft.com/office/drawing/2014/main" id="{A05813A6-60F6-6CB4-2C77-D2BF3FE4CE00}"/>
                </a:ext>
              </a:extLst>
            </p:cNvPr>
            <p:cNvSpPr/>
            <p:nvPr/>
          </p:nvSpPr>
          <p:spPr>
            <a:xfrm>
              <a:off x="2873671" y="2717840"/>
              <a:ext cx="3397275" cy="737118"/>
            </a:xfrm>
            <a:prstGeom prst="roundRect">
              <a:avLst>
                <a:gd name="adj" fmla="val 50000"/>
              </a:avLst>
            </a:prstGeom>
            <a:solidFill>
              <a:srgbClr val="6DFD8C"/>
            </a:solidFill>
            <a:ln>
              <a:noFill/>
            </a:ln>
            <a:effectLst>
              <a:outerShdw blurRad="226092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_tradnl" b="1">
                  <a:solidFill>
                    <a:srgbClr val="145F1C"/>
                  </a:solidFill>
                  <a:highlight>
                    <a:srgbClr val="FFFF00"/>
                  </a:highlight>
                  <a:latin typeface="Arial Black"/>
                  <a:cs typeface="Arial Black" panose="020B0604020202020204" pitchFamily="34" charset="0"/>
                </a:rPr>
                <a:t>ABRIR ENCUESTA</a:t>
              </a:r>
            </a:p>
          </p:txBody>
        </p:sp>
        <p:sp>
          <p:nvSpPr>
            <p:cNvPr id="14" name="Rectángulo redondeado 14">
              <a:hlinkClick r:id="rId5"/>
              <a:extLst>
                <a:ext uri="{FF2B5EF4-FFF2-40B4-BE49-F238E27FC236}">
                  <a16:creationId xmlns:a16="http://schemas.microsoft.com/office/drawing/2014/main" id="{13E4DD24-EFE3-EC35-923B-491F186F7852}"/>
                </a:ext>
              </a:extLst>
            </p:cNvPr>
            <p:cNvSpPr/>
            <p:nvPr/>
          </p:nvSpPr>
          <p:spPr>
            <a:xfrm>
              <a:off x="2803426" y="2661220"/>
              <a:ext cx="3489648" cy="82630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45F1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0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F5CA952E-A846-C9EB-EFE4-BB4A4DD1C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834" y="124273"/>
            <a:ext cx="1980332" cy="66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85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93F-D7CC-2010-D076-71901A27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B02D71-CF67-A80C-329A-1634BA5E0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007" y="-11685"/>
            <a:ext cx="9194014" cy="5171633"/>
          </a:xfr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70A45C5-54AB-9C8D-555D-47D35A53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09" y="178387"/>
            <a:ext cx="4757574" cy="46931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O" sz="23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Forma de Pago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1D1A70-7BCF-1E1E-2675-919E2967D00F}"/>
              </a:ext>
            </a:extLst>
          </p:cNvPr>
          <p:cNvSpPr txBox="1"/>
          <p:nvPr/>
        </p:nvSpPr>
        <p:spPr>
          <a:xfrm>
            <a:off x="349556" y="1538724"/>
            <a:ext cx="276953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 dirty="0">
                <a:solidFill>
                  <a:srgbClr val="212121"/>
                </a:solidFill>
                <a:cs typeface="Arial"/>
              </a:rPr>
              <a:t>El pago se realizará conforme al siguiente plan de porcentajes, teniendo en cuenta que </a:t>
            </a:r>
            <a:r>
              <a:rPr lang="es-MX" sz="1200" dirty="0">
                <a:solidFill>
                  <a:schemeClr val="accent1"/>
                </a:solidFill>
                <a:cs typeface="Arial"/>
              </a:rPr>
              <a:t>                     </a:t>
            </a:r>
            <a:r>
              <a:rPr lang="es-MX" sz="1200" dirty="0">
                <a:solidFill>
                  <a:srgbClr val="212121"/>
                </a:solidFill>
                <a:cs typeface="Arial"/>
              </a:rPr>
              <a:t>pagará a los </a:t>
            </a:r>
            <a:r>
              <a:rPr lang="es-MX" sz="1200" dirty="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XX</a:t>
            </a:r>
            <a:r>
              <a:rPr lang="es-MX" sz="1200" dirty="0">
                <a:solidFill>
                  <a:srgbClr val="212121"/>
                </a:solidFill>
                <a:cs typeface="Arial"/>
              </a:rPr>
              <a:t> días calendario una vez radicada la factura, como fecha máxima. 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360F921-EE56-A2F8-E00B-4F9E8AB828B4}"/>
              </a:ext>
            </a:extLst>
          </p:cNvPr>
          <p:cNvGrpSpPr/>
          <p:nvPr/>
        </p:nvGrpSpPr>
        <p:grpSpPr>
          <a:xfrm>
            <a:off x="1213140" y="3771894"/>
            <a:ext cx="6717721" cy="779087"/>
            <a:chOff x="304799" y="3811171"/>
            <a:chExt cx="6717721" cy="779087"/>
          </a:xfrm>
        </p:grpSpPr>
        <p:sp>
          <p:nvSpPr>
            <p:cNvPr id="10" name="Redondear rectángulo de esquina diagonal 14">
              <a:extLst>
                <a:ext uri="{FF2B5EF4-FFF2-40B4-BE49-F238E27FC236}">
                  <a16:creationId xmlns:a16="http://schemas.microsoft.com/office/drawing/2014/main" id="{D2009179-364D-5075-BBBF-401C4314F4E5}"/>
                </a:ext>
              </a:extLst>
            </p:cNvPr>
            <p:cNvSpPr/>
            <p:nvPr/>
          </p:nvSpPr>
          <p:spPr>
            <a:xfrm>
              <a:off x="304799" y="3811171"/>
              <a:ext cx="6717721" cy="779087"/>
            </a:xfrm>
            <a:prstGeom prst="round2DiagRect">
              <a:avLst>
                <a:gd name="adj1" fmla="val 13848"/>
                <a:gd name="adj2" fmla="val 25414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190500" dist="38100" dir="810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76000" tIns="0" rIns="144000" bIns="0" rtlCol="0" anchor="ctr"/>
            <a:lstStyle/>
            <a:p>
              <a:r>
                <a:rPr lang="es-ES" sz="1050" i="1">
                  <a:solidFill>
                    <a:srgbClr val="333333"/>
                  </a:solidFill>
                  <a:highlight>
                    <a:srgbClr val="FFFF00"/>
                  </a:highlight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2ABFFD9-18D2-CA20-E9D9-34D7FAFDC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167" y="4038995"/>
              <a:ext cx="323437" cy="323437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321204-E7B6-A25C-8EF9-A108FF9BB711}"/>
              </a:ext>
            </a:extLst>
          </p:cNvPr>
          <p:cNvGrpSpPr/>
          <p:nvPr/>
        </p:nvGrpSpPr>
        <p:grpSpPr>
          <a:xfrm>
            <a:off x="3903676" y="852836"/>
            <a:ext cx="1073513" cy="830997"/>
            <a:chOff x="3939239" y="3277262"/>
            <a:chExt cx="1073513" cy="830997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BCAF6D6-B37E-8B77-7C6F-3F8940B0313A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30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D6452D6-6307-04B0-0BE9-7AFA685D1F72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FED24-1B6F-2BDD-F43C-56F4C4A4552A}"/>
              </a:ext>
            </a:extLst>
          </p:cNvPr>
          <p:cNvSpPr txBox="1"/>
          <p:nvPr/>
        </p:nvSpPr>
        <p:spPr>
          <a:xfrm>
            <a:off x="3392624" y="2938013"/>
            <a:ext cx="1967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Con la firma del acta</a:t>
            </a:r>
          </a:p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de inicio de proyecto.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67DC1F-8318-32B5-9A25-36C79C184D7D}"/>
              </a:ext>
            </a:extLst>
          </p:cNvPr>
          <p:cNvSpPr txBox="1"/>
          <p:nvPr/>
        </p:nvSpPr>
        <p:spPr>
          <a:xfrm>
            <a:off x="5261117" y="2937014"/>
            <a:ext cx="1715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Entrega de los desarrollos y pruebas de los </a:t>
            </a:r>
            <a:r>
              <a:rPr lang="es-ES" sz="1200" b="1" i="0" u="none" strike="noStrike" baseline="0" err="1">
                <a:solidFill>
                  <a:srgbClr val="333333"/>
                </a:solidFill>
                <a:latin typeface="Arial"/>
                <a:cs typeface="Arial"/>
              </a:rPr>
              <a:t>Sprints</a:t>
            </a: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 definid</a:t>
            </a:r>
            <a:r>
              <a:rPr lang="es-ES" sz="12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  <a:r>
              <a:rPr lang="es-ES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s.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293F46-064E-AB96-6A9A-3598AD9026BB}"/>
              </a:ext>
            </a:extLst>
          </p:cNvPr>
          <p:cNvSpPr txBox="1"/>
          <p:nvPr/>
        </p:nvSpPr>
        <p:spPr>
          <a:xfrm>
            <a:off x="6978474" y="2975248"/>
            <a:ext cx="1586375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CO" sz="1200" b="1" dirty="0">
                <a:solidFill>
                  <a:srgbClr val="333333"/>
                </a:solidFill>
                <a:latin typeface="Arial"/>
                <a:cs typeface="Arial"/>
              </a:rPr>
              <a:t>Ajustar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8477529-E52F-2992-D429-C9AFDE196B2B}"/>
              </a:ext>
            </a:extLst>
          </p:cNvPr>
          <p:cNvGrpSpPr/>
          <p:nvPr/>
        </p:nvGrpSpPr>
        <p:grpSpPr>
          <a:xfrm>
            <a:off x="5610526" y="852836"/>
            <a:ext cx="1073513" cy="830997"/>
            <a:chOff x="3939239" y="3277262"/>
            <a:chExt cx="1073513" cy="830997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42B3034-D2C3-BB35-E488-2C76663420ED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50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3B7E8EC-A76C-894C-C22A-0276B506A5FC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3D32D12-A8A1-8FBE-41A1-C4D4E7463DD1}"/>
              </a:ext>
            </a:extLst>
          </p:cNvPr>
          <p:cNvGrpSpPr/>
          <p:nvPr/>
        </p:nvGrpSpPr>
        <p:grpSpPr>
          <a:xfrm>
            <a:off x="7317132" y="852836"/>
            <a:ext cx="1073513" cy="830997"/>
            <a:chOff x="3939239" y="3277262"/>
            <a:chExt cx="1073513" cy="830997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C720CEC-350E-D3A2-122C-7980C101E6C6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20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F9110B5-0EFD-A6CB-DBC1-83C6845270E7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6F03DB48-774A-A74F-1DBA-C041AAAA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353" y="2297242"/>
            <a:ext cx="790616" cy="46674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540BE95-7D8A-2BD3-DA91-118AE4A7E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637" y="1861012"/>
            <a:ext cx="790616" cy="90809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DB02220-CA51-73C7-EB2B-5600B0E6D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194" y="2151185"/>
            <a:ext cx="790616" cy="612806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078217C-9BDE-7447-A28B-32617CD1E73B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376502" y="1678148"/>
            <a:ext cx="546" cy="473037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6EBB11B-753E-9DDA-46C3-7ED0CC155CCF}"/>
              </a:ext>
            </a:extLst>
          </p:cNvPr>
          <p:cNvCxnSpPr>
            <a:cxnSpLocks/>
          </p:cNvCxnSpPr>
          <p:nvPr/>
        </p:nvCxnSpPr>
        <p:spPr>
          <a:xfrm>
            <a:off x="6118945" y="1678148"/>
            <a:ext cx="0" cy="18286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1C8BFDB-5A70-FDC6-4321-9539E0A1F78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771661" y="1678148"/>
            <a:ext cx="0" cy="61909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A6A9E659-733C-492B-4EFB-7CFEA0829D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219" y="1936916"/>
            <a:ext cx="411715" cy="181921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4839D2E-218E-B341-F2C0-F357E1CA1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325" y="4756683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518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9843B-87F8-D01C-C615-3C30522D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9E0503-FAC8-2FCA-27F7-766C63F483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0DBD774-2D30-07A6-B43F-1095E35D0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0"/>
            <a:ext cx="5824106" cy="514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04B1D-B164-DAE4-87E2-5AB5FEA2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69777"/>
            <a:ext cx="5343525" cy="143000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Condiciones Comerciales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EDFD036-784C-C29C-BED5-F5BF76053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795CCAB-748D-781F-1584-718593208217}"/>
              </a:ext>
            </a:extLst>
          </p:cNvPr>
          <p:cNvGrpSpPr/>
          <p:nvPr/>
        </p:nvGrpSpPr>
        <p:grpSpPr>
          <a:xfrm>
            <a:off x="360229" y="1596199"/>
            <a:ext cx="4145096" cy="730841"/>
            <a:chOff x="774555" y="1621088"/>
            <a:chExt cx="4145096" cy="73084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51D6888-4D91-8069-AFFE-00742A6C4C4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539B928-231F-904E-158B-40E5BF49E088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2F8A4D6-51FA-AAC3-08FA-763F9D0F44D2}"/>
              </a:ext>
            </a:extLst>
          </p:cNvPr>
          <p:cNvGrpSpPr/>
          <p:nvPr/>
        </p:nvGrpSpPr>
        <p:grpSpPr>
          <a:xfrm>
            <a:off x="360229" y="2327040"/>
            <a:ext cx="4145096" cy="730841"/>
            <a:chOff x="774555" y="1621088"/>
            <a:chExt cx="4145096" cy="730841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DFA88D4-F4B5-ECCA-98E6-2DE415F49E42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D0AFA5C-4051-1FC5-7121-93DC9C017633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AD9382-FAD1-2B6C-99D0-88A573A9B647}"/>
              </a:ext>
            </a:extLst>
          </p:cNvPr>
          <p:cNvGrpSpPr/>
          <p:nvPr/>
        </p:nvGrpSpPr>
        <p:grpSpPr>
          <a:xfrm>
            <a:off x="360229" y="3057881"/>
            <a:ext cx="4145096" cy="730841"/>
            <a:chOff x="774555" y="1621088"/>
            <a:chExt cx="4145096" cy="73084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DAD97F4-019A-EE36-9647-9251526B194D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7687DF-74B5-F80C-3717-6FCFDEF9D44B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C71F84-EE69-B0AF-E5EA-F8602BEFF5AE}"/>
              </a:ext>
            </a:extLst>
          </p:cNvPr>
          <p:cNvGrpSpPr/>
          <p:nvPr/>
        </p:nvGrpSpPr>
        <p:grpSpPr>
          <a:xfrm>
            <a:off x="360229" y="3790164"/>
            <a:ext cx="4145096" cy="730841"/>
            <a:chOff x="774555" y="1621088"/>
            <a:chExt cx="4145096" cy="730841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A8A5EA3-763F-9A87-BB5C-31FD8F00D25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2167167-015F-9B69-38F6-FD043ED10A7C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05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A7E6-4C4F-7D72-132D-53CED9E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64034B-5425-D6C4-FC73-037EC0A3D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B1A3B43-D1E6-428A-F190-E56AF815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highlight>
                  <a:srgbClr val="FFFF00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Garantía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7C3256A-E754-A00C-9B57-093389191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0E0E7FED-9E3A-89A4-1947-0FE4F875EB38}"/>
              </a:ext>
            </a:extLst>
          </p:cNvPr>
          <p:cNvSpPr/>
          <p:nvPr/>
        </p:nvSpPr>
        <p:spPr>
          <a:xfrm>
            <a:off x="1725979" y="4077766"/>
            <a:ext cx="3547806" cy="961146"/>
          </a:xfrm>
          <a:prstGeom prst="round2DiagRect">
            <a:avLst>
              <a:gd name="adj1" fmla="val 15796"/>
              <a:gd name="adj2" fmla="val 4015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70000" tIns="135000" rIns="270000" bIns="270000" rtlCol="0" anchor="b"/>
          <a:lstStyle/>
          <a:p>
            <a:endParaRPr lang="es-MX" sz="1000" b="1" i="1">
              <a:solidFill>
                <a:srgbClr val="333333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5DD84-AEFA-5F78-2127-B8EE7B068937}"/>
              </a:ext>
            </a:extLst>
          </p:cNvPr>
          <p:cNvSpPr txBox="1"/>
          <p:nvPr/>
        </p:nvSpPr>
        <p:spPr>
          <a:xfrm>
            <a:off x="3824089" y="1102280"/>
            <a:ext cx="50253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La garantía del producto está definida en dos fases, la fase de estabilización y la garantía: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estabilización: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Este periodo de tiempo inicia al momento de pasar el 100% de los desarrollos del producto al ambiente de QA del cliente. Se define un tiempo de 15 días calendario para que el cliente realice la certificación del producto.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garantía: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Hace referencia al periodo de soporte de fallas que puedan surgir posterior a la fase de estabilización. Para esto se define un tiempo de 90 días calendario. 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Garantía del producto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= 15 días de estabilización + 90 días de garantía. </a:t>
            </a:r>
            <a:endParaRPr lang="es-MX" sz="1200" dirty="0">
              <a:highlight>
                <a:srgbClr val="FFFF00"/>
              </a:highlight>
              <a:latin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28C26A9-F823-77AD-603B-7C0A1E1CA019}"/>
              </a:ext>
            </a:extLst>
          </p:cNvPr>
          <p:cNvSpPr txBox="1">
            <a:spLocks/>
          </p:cNvSpPr>
          <p:nvPr/>
        </p:nvSpPr>
        <p:spPr>
          <a:xfrm>
            <a:off x="1947113" y="4118592"/>
            <a:ext cx="3547805" cy="33575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1E137E-909B-63CB-8444-5F6F4CE67DB6}"/>
              </a:ext>
            </a:extLst>
          </p:cNvPr>
          <p:cNvSpPr txBox="1"/>
          <p:nvPr/>
        </p:nvSpPr>
        <p:spPr>
          <a:xfrm>
            <a:off x="1901605" y="4397531"/>
            <a:ext cx="333022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Hasta ocho (8) días hábiles después de firmado el contrato entre </a:t>
            </a:r>
            <a:r>
              <a:rPr lang="es-MX" sz="1000" i="1" dirty="0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                     </a:t>
            </a:r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o recepción de orden de compra o correo formal aceptando la propuesta.</a:t>
            </a:r>
          </a:p>
        </p:txBody>
      </p:sp>
      <p:sp>
        <p:nvSpPr>
          <p:cNvPr id="11" name="Redondear rectángulo de esquina diagonal 14">
            <a:extLst>
              <a:ext uri="{FF2B5EF4-FFF2-40B4-BE49-F238E27FC236}">
                <a16:creationId xmlns:a16="http://schemas.microsoft.com/office/drawing/2014/main" id="{DBCD68DC-4E83-A366-E6E1-768D4C678F93}"/>
              </a:ext>
            </a:extLst>
          </p:cNvPr>
          <p:cNvSpPr/>
          <p:nvPr/>
        </p:nvSpPr>
        <p:spPr>
          <a:xfrm>
            <a:off x="5593602" y="4073087"/>
            <a:ext cx="3368338" cy="961146"/>
          </a:xfrm>
          <a:prstGeom prst="round2DiagRect">
            <a:avLst>
              <a:gd name="adj1" fmla="val 15796"/>
              <a:gd name="adj2" fmla="val 3687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288000" rIns="72000" bIns="270000" rtlCol="0" anchor="b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1" u="none" strike="noStrike" kern="1200" cap="none" spc="0" normalizeH="0" baseline="0" noProof="0">
              <a:ln>
                <a:noFill/>
              </a:ln>
              <a:solidFill>
                <a:srgbClr val="669933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C719A26-ED08-A5C0-2F9B-3AFD50A597F5}"/>
              </a:ext>
            </a:extLst>
          </p:cNvPr>
          <p:cNvSpPr txBox="1">
            <a:spLocks/>
          </p:cNvSpPr>
          <p:nvPr/>
        </p:nvSpPr>
        <p:spPr>
          <a:xfrm>
            <a:off x="5694800" y="4235570"/>
            <a:ext cx="2795883" cy="17976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Vigencia</a:t>
            </a: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 la propuesta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D8F82-2686-09E7-666A-0B3AA815F59A}"/>
              </a:ext>
            </a:extLst>
          </p:cNvPr>
          <p:cNvSpPr/>
          <p:nvPr/>
        </p:nvSpPr>
        <p:spPr>
          <a:xfrm>
            <a:off x="5688083" y="4467889"/>
            <a:ext cx="3179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0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La vigencia de la propuesta será de 60 días calendario a partir de la fecha de presentación de esta.</a:t>
            </a:r>
            <a:endParaRPr lang="es-CO" sz="1000" i="1">
              <a:solidFill>
                <a:srgbClr val="333333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AE49A1D3-40AD-766C-CA39-0E145F3BCFDA}"/>
              </a:ext>
            </a:extLst>
          </p:cNvPr>
          <p:cNvSpPr/>
          <p:nvPr/>
        </p:nvSpPr>
        <p:spPr>
          <a:xfrm>
            <a:off x="1633039" y="137336"/>
            <a:ext cx="5925646" cy="799064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396000" rIns="72000" bIns="72000" rtlCol="0" anchor="ctr"/>
          <a:lstStyle/>
          <a:p>
            <a:r>
              <a:rPr lang="es-ES" sz="90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Se entiende por garantía el proceso por el cual </a:t>
            </a:r>
            <a:r>
              <a:rPr lang="es-ES" sz="900" b="1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CBIT </a:t>
            </a:r>
            <a:r>
              <a:rPr lang="es-ES" sz="900" i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coloca a disposición del proyecto el talento humano que sea necesario para atender fallas o errores en los componentes ocasionados por la operación diaria. Este período no incluye nuevos requerimientos o funcionalidades.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E87E8F-2225-1659-D600-3B46AE5D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191" y="137336"/>
            <a:ext cx="240358" cy="24035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73DB4A3-C989-E2A2-E34C-C1335A034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958" y="4592193"/>
            <a:ext cx="411715" cy="18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138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AC3792-FBF0-63E5-0C5E-D31FA63F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17" y="0"/>
            <a:ext cx="9158635" cy="514826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9516D-2691-DBE9-88AE-C3BB07CBD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BF842A1-8061-D34D-7924-67988881DC06}"/>
              </a:ext>
            </a:extLst>
          </p:cNvPr>
          <p:cNvSpPr txBox="1"/>
          <p:nvPr/>
        </p:nvSpPr>
        <p:spPr>
          <a:xfrm>
            <a:off x="533400" y="1408677"/>
            <a:ext cx="2156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Gracias</a:t>
            </a:r>
          </a:p>
        </p:txBody>
      </p:sp>
      <p:grpSp>
        <p:nvGrpSpPr>
          <p:cNvPr id="8" name="vertical">
            <a:extLst>
              <a:ext uri="{FF2B5EF4-FFF2-40B4-BE49-F238E27FC236}">
                <a16:creationId xmlns:a16="http://schemas.microsoft.com/office/drawing/2014/main" id="{7235EB6B-CAAE-87C7-7A6A-FF92535C17EF}"/>
              </a:ext>
            </a:extLst>
          </p:cNvPr>
          <p:cNvGrpSpPr/>
          <p:nvPr/>
        </p:nvGrpSpPr>
        <p:grpSpPr>
          <a:xfrm>
            <a:off x="631149" y="3070838"/>
            <a:ext cx="1489700" cy="1263841"/>
            <a:chOff x="373477" y="3452136"/>
            <a:chExt cx="1780358" cy="1510431"/>
          </a:xfrm>
        </p:grpSpPr>
        <p:grpSp>
          <p:nvGrpSpPr>
            <p:cNvPr id="9" name="duv-uaf-iaf">
              <a:extLst>
                <a:ext uri="{FF2B5EF4-FFF2-40B4-BE49-F238E27FC236}">
                  <a16:creationId xmlns:a16="http://schemas.microsoft.com/office/drawing/2014/main" id="{9DC18A9B-F9D5-B153-0D8D-C2673017ACD8}"/>
                </a:ext>
              </a:extLst>
            </p:cNvPr>
            <p:cNvGrpSpPr/>
            <p:nvPr/>
          </p:nvGrpSpPr>
          <p:grpSpPr>
            <a:xfrm>
              <a:off x="1305955" y="3452136"/>
              <a:ext cx="847880" cy="1510430"/>
              <a:chOff x="2215213" y="3665621"/>
              <a:chExt cx="755226" cy="1345374"/>
            </a:xfrm>
            <a:effectLst>
              <a:outerShdw blurRad="308960" dist="38100" dir="8100000" sx="105000" sy="105000" algn="tr" rotWithShape="0">
                <a:prstClr val="black">
                  <a:alpha val="20000"/>
                </a:prstClr>
              </a:outerShdw>
            </a:effectLst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5D7DDF0-C410-D99E-C88C-4CE2D07D9CE7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1345374"/>
              </a:xfrm>
              <a:prstGeom prst="rect">
                <a:avLst/>
              </a:prstGeom>
              <a:solidFill>
                <a:srgbClr val="B3B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D1B7316F-CE57-D612-F2A7-71358D4D7EA3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9615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81A025B5-7907-545D-0221-D6AE3C36A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5586" y="3749683"/>
                <a:ext cx="454480" cy="15614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8046B672-50B0-563D-9E2A-1790EFE3B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75112" y="3993567"/>
                <a:ext cx="435429" cy="205391"/>
              </a:xfrm>
              <a:prstGeom prst="rect">
                <a:avLst/>
              </a:pr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F92C4A5E-1E62-141E-0D7D-39AF4AB49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3106" y="4286701"/>
                <a:ext cx="459441" cy="280963"/>
              </a:xfrm>
              <a:prstGeom prst="rect">
                <a:avLst/>
              </a:prstGeom>
            </p:spPr>
          </p:pic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13185D8-432F-85E4-E2CF-1DE2B5682817}"/>
                  </a:ext>
                </a:extLst>
              </p:cNvPr>
              <p:cNvSpPr txBox="1"/>
              <p:nvPr/>
            </p:nvSpPr>
            <p:spPr>
              <a:xfrm>
                <a:off x="2226205" y="4684084"/>
                <a:ext cx="733242" cy="30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27001:2022</a:t>
                </a:r>
              </a:p>
              <a:p>
                <a:pPr algn="ctr"/>
                <a:r>
                  <a:rPr lang="es-CO" sz="400"/>
                  <a:t>PRC/DUV-COL/IS3164</a:t>
                </a:r>
              </a:p>
              <a:p>
                <a:pPr algn="ctr"/>
                <a:r>
                  <a:rPr lang="es-CO" sz="400"/>
                  <a:t>CAB/DUV-COL/IS3165</a:t>
                </a:r>
              </a:p>
            </p:txBody>
          </p: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682EBE46-2D1C-EC4E-4293-7F63F7A00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5213" y="4627194"/>
                <a:ext cx="75522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future builders">
              <a:extLst>
                <a:ext uri="{FF2B5EF4-FFF2-40B4-BE49-F238E27FC236}">
                  <a16:creationId xmlns:a16="http://schemas.microsoft.com/office/drawing/2014/main" id="{D616C77A-DD46-7D24-95A6-81762C9D3556}"/>
                </a:ext>
              </a:extLst>
            </p:cNvPr>
            <p:cNvGrpSpPr/>
            <p:nvPr/>
          </p:nvGrpSpPr>
          <p:grpSpPr>
            <a:xfrm>
              <a:off x="373477" y="3452136"/>
              <a:ext cx="833903" cy="1510431"/>
              <a:chOff x="367517" y="3499719"/>
              <a:chExt cx="833903" cy="1510431"/>
            </a:xfrm>
            <a:effectLst>
              <a:outerShdw blurRad="304800" dist="38100" dir="8100000" sx="105000" sy="105000" algn="ctr" rotWithShape="0">
                <a:srgbClr val="000000">
                  <a:alpha val="20000"/>
                </a:srgbClr>
              </a:outerShdw>
            </a:effectLst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E16EB1EB-E0FC-29A3-CDF8-86619D7BC559}"/>
                  </a:ext>
                </a:extLst>
              </p:cNvPr>
              <p:cNvSpPr/>
              <p:nvPr/>
            </p:nvSpPr>
            <p:spPr>
              <a:xfrm>
                <a:off x="367517" y="3499719"/>
                <a:ext cx="833134" cy="151043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bg1"/>
                  </a:solidFill>
                </a:endParaRPr>
              </a:p>
            </p:txBody>
          </p:sp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E6FDC158-7AD8-0346-DED8-BF5732722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8286" y="3505128"/>
                <a:ext cx="833134" cy="1173189"/>
              </a:xfrm>
              <a:prstGeom prst="rect">
                <a:avLst/>
              </a:prstGeom>
            </p:spPr>
          </p:pic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FEA9470-D609-E2BD-F409-FAD3C520570B}"/>
                  </a:ext>
                </a:extLst>
              </p:cNvPr>
              <p:cNvSpPr/>
              <p:nvPr/>
            </p:nvSpPr>
            <p:spPr>
              <a:xfrm>
                <a:off x="424764" y="4221126"/>
                <a:ext cx="712800" cy="698114"/>
              </a:xfrm>
              <a:prstGeom prst="rect">
                <a:avLst/>
              </a:prstGeom>
              <a:solidFill>
                <a:srgbClr val="B1B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2317B9E-6293-2A42-0B46-F21F57D7EBCE}"/>
                  </a:ext>
                </a:extLst>
              </p:cNvPr>
              <p:cNvSpPr txBox="1"/>
              <p:nvPr/>
            </p:nvSpPr>
            <p:spPr>
              <a:xfrm>
                <a:off x="431786" y="4221127"/>
                <a:ext cx="704596" cy="62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9001:2015</a:t>
                </a:r>
              </a:p>
              <a:p>
                <a:pPr algn="ctr"/>
                <a:r>
                  <a:rPr lang="es-CO" sz="400"/>
                  <a:t>MSC-57124103</a:t>
                </a:r>
              </a:p>
              <a:p>
                <a:pPr algn="ctr"/>
                <a:r>
                  <a:rPr lang="es-CO" sz="400"/>
                  <a:t>MSC-57124103-1</a:t>
                </a:r>
              </a:p>
              <a:p>
                <a:pPr algn="ctr"/>
                <a:endParaRPr lang="es-CO" sz="400"/>
              </a:p>
              <a:p>
                <a:pPr algn="ctr">
                  <a:lnSpc>
                    <a:spcPts val="0"/>
                  </a:lnSpc>
                </a:pPr>
                <a:endParaRPr lang="es-CO" sz="400"/>
              </a:p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27032:2023</a:t>
                </a:r>
              </a:p>
              <a:p>
                <a:pPr algn="ctr"/>
                <a:r>
                  <a:rPr lang="es-CO" sz="400"/>
                  <a:t>MSC-571924002</a:t>
                </a:r>
              </a:p>
              <a:p>
                <a:pPr algn="ctr"/>
                <a:r>
                  <a:rPr lang="es-CO" sz="400"/>
                  <a:t>MSC-571924002-1</a:t>
                </a:r>
              </a:p>
            </p:txBody>
          </p:sp>
        </p:grp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DF1F4422-5300-C43E-5015-9B4959B68A0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526" y="2008011"/>
            <a:ext cx="2740004" cy="851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DCC8DCC-EC20-7B34-937F-B08A0C6C3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3968" y="4755399"/>
            <a:ext cx="3636000" cy="169444"/>
          </a:xfrm>
          <a:prstGeom prst="rect">
            <a:avLst/>
          </a:prstGeom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251CC8-5E53-231D-8DB7-30EF3F4B4000}"/>
              </a:ext>
            </a:extLst>
          </p:cNvPr>
          <p:cNvCxnSpPr/>
          <p:nvPr/>
        </p:nvCxnSpPr>
        <p:spPr>
          <a:xfrm>
            <a:off x="4114800" y="4780635"/>
            <a:ext cx="5334000" cy="0"/>
          </a:xfrm>
          <a:prstGeom prst="line">
            <a:avLst/>
          </a:prstGeom>
          <a:ln w="19050">
            <a:solidFill>
              <a:srgbClr val="6DFD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077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schemas.microsoft.com/office/2006/metadata/properties"/>
    <ds:schemaRef ds:uri="4948dcbb-4498-453a-bb2a-2f6e93dc52f8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42031908-afc3-4861-95d9-cc85d1091e34"/>
  </ds:schemaRefs>
</ds:datastoreItem>
</file>

<file path=customXml/itemProps3.xml><?xml version="1.0" encoding="utf-8"?>
<ds:datastoreItem xmlns:ds="http://schemas.openxmlformats.org/officeDocument/2006/customXml" ds:itemID="{FD4D0A96-7110-49DE-98A4-9B12497D60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1bdfea1-5fcd-44c1-8196-dfa7afddd8c5}" enabled="0" method="" siteId="{e1bdfea1-5fcd-44c1-8196-dfa7afddd8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</TotalTime>
  <Words>1160</Words>
  <Application>Microsoft Office PowerPoint</Application>
  <PresentationFormat>Personalizado</PresentationFormat>
  <Paragraphs>251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Wingdings</vt:lpstr>
      <vt:lpstr>Tema de Office</vt:lpstr>
      <vt:lpstr>Espacio para poner el título de tu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Consideraciones</vt:lpstr>
      <vt:lpstr>Presentación de PowerPoint</vt:lpstr>
      <vt:lpstr>Presentación de PowerPoint</vt:lpstr>
      <vt:lpstr>Presentación de PowerPoint</vt:lpstr>
      <vt:lpstr>Presentación de PowerPoint</vt:lpstr>
      <vt:lpstr>Oferta Económica</vt:lpstr>
      <vt:lpstr>Presentación de PowerPoint</vt:lpstr>
      <vt:lpstr>Forma de Pago</vt:lpstr>
      <vt:lpstr>Condiciones Comerciales</vt:lpstr>
      <vt:lpstr>Garantía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Kevin A. Lopez Hernandez</cp:lastModifiedBy>
  <cp:revision>85</cp:revision>
  <dcterms:created xsi:type="dcterms:W3CDTF">2024-01-17T20:43:53Z</dcterms:created>
  <dcterms:modified xsi:type="dcterms:W3CDTF">2026-08-24T14:02:27Z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